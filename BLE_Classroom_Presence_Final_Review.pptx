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multi-node BLE presence verification prototype built on two ESP32 nodes and a Flask server. Final review of the implemented and tested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attendance is slow and error-prone, and a single BLE scanner can miss devices. The objective was to use multiple ESP32 nodes for better observation coverage and to detect students who leave during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Registered smartphones advertise over BLE. Two ESP32 nodes scan and send detections plus a periodic heartbeat over Wi-Fi using HTTP to the Flask server on the laptop. The server performs presence verification and feeds the live dashboard and the CSV attendance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two ESP32-WROOM-32 boards act as BLE scanners, with LEDs and resistors on breadboards. Software: Arduino IDE with the ESP32 framework on the nodes; Python Flask, a web dashboard and CSV storage on the laptop. The verification logic is rule-based.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path first: advertise, scan, report, receive. Then the rules: in range means at least 3 detections from each node in a 30 second window; the server re-checks every 10 seconds; 30 seconds of continuous absence means the student left; final result needs at least 75 percent of counted checks in range; a stale node heartbeat skips the check instead of penalising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implemented system works end to end: ESP32 nodes scan and report (hardware and software on Slide 4), the Flask server applies the verification rules (Slide 5), and the results appear on the live dashboard and in the CSV file (architecture on Slide 3). Test outcomes are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tested behaviours. Right: attendance results recorded in the CSV — Kavin 85.7 percent present; Kavin 42.9 percent with a 50 second continuous absence, marked absent; Lohith 71.4 percent, below the 75 percent threshold, marked absent. Bottom: what the tests demonstrate.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implemented and working: distributed ESP32 scanning with centralized Flask verification, continuous monitoring, leave detection, low cost. Future work: more nodes, better device registration, multi-classroom deployment, integration with institutional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3" name="Text 1"/>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 / 8</a:t>
            </a:r>
            <a:endParaRPr lang="en-US" sz="900" dirty="0"/>
          </a:p>
        </p:txBody>
      </p:sp>
      <p:sp>
        <p:nvSpPr>
          <p:cNvPr id="5" name="Shape 2"/>
          <p:cNvSpPr/>
          <p:nvPr/>
        </p:nvSpPr>
        <p:spPr>
          <a:xfrm>
            <a:off x="5989320" y="1143000"/>
            <a:ext cx="2743200" cy="2743200"/>
          </a:xfrm>
          <a:prstGeom prst="ellipse">
            <a:avLst/>
          </a:prstGeom>
          <a:solidFill>
            <a:srgbClr val="F7F7F7"/>
          </a:solidFill>
          <a:ln w="9525">
            <a:solidFill>
              <a:srgbClr val="BFBFBF"/>
            </a:solidFill>
            <a:prstDash val="solid"/>
          </a:ln>
        </p:spPr>
      </p:sp>
      <p:sp>
        <p:nvSpPr>
          <p:cNvPr id="6" name="Shape 3"/>
          <p:cNvSpPr/>
          <p:nvPr/>
        </p:nvSpPr>
        <p:spPr>
          <a:xfrm>
            <a:off x="6355080" y="1508760"/>
            <a:ext cx="2011680" cy="2011680"/>
          </a:xfrm>
          <a:prstGeom prst="ellipse">
            <a:avLst/>
          </a:prstGeom>
          <a:solidFill>
            <a:srgbClr val="E6E6E6"/>
          </a:solidFill>
          <a:ln w="9525">
            <a:solidFill>
              <a:srgbClr val="BFBFBF"/>
            </a:solidFill>
            <a:prstDash val="solid"/>
          </a:ln>
        </p:spPr>
      </p:sp>
      <p:sp>
        <p:nvSpPr>
          <p:cNvPr id="7" name="Shape 4"/>
          <p:cNvSpPr/>
          <p:nvPr/>
        </p:nvSpPr>
        <p:spPr>
          <a:xfrm>
            <a:off x="6720840" y="1874520"/>
            <a:ext cx="1280160" cy="1280160"/>
          </a:xfrm>
          <a:prstGeom prst="ellipse">
            <a:avLst/>
          </a:prstGeom>
          <a:solidFill>
            <a:srgbClr val="D2D2D2"/>
          </a:solidFill>
          <a:ln w="9525">
            <a:solidFill>
              <a:srgbClr val="BFBFBF"/>
            </a:solidFill>
            <a:prstDash val="solid"/>
          </a:ln>
        </p:spPr>
      </p:sp>
      <p:sp>
        <p:nvSpPr>
          <p:cNvPr id="8" name="Shape 5"/>
          <p:cNvSpPr/>
          <p:nvPr/>
        </p:nvSpPr>
        <p:spPr>
          <a:xfrm>
            <a:off x="7013448" y="2167128"/>
            <a:ext cx="694944" cy="694944"/>
          </a:xfrm>
          <a:prstGeom prst="ellipse">
            <a:avLst/>
          </a:prstGeom>
          <a:solidFill>
            <a:srgbClr val="111111"/>
          </a:solidFill>
          <a:ln w="12700">
            <a:solidFill>
              <a:srgbClr val="111111"/>
            </a:solidFill>
            <a:prstDash val="solid"/>
          </a:ln>
        </p:spPr>
      </p:sp>
      <p:pic>
        <p:nvPicPr>
          <p:cNvPr id="9" name="Image 0" descr="preencoded.png">    </p:cNvPr>
          <p:cNvPicPr>
            <a:picLocks noChangeAspect="1"/>
          </p:cNvPicPr>
          <p:nvPr/>
        </p:nvPicPr>
        <p:blipFill>
          <a:blip r:embed="rId1"/>
          <a:stretch>
            <a:fillRect/>
          </a:stretch>
        </p:blipFill>
        <p:spPr>
          <a:xfrm>
            <a:off x="7196328" y="2350008"/>
            <a:ext cx="329184" cy="329184"/>
          </a:xfrm>
          <a:prstGeom prst="rect">
            <a:avLst/>
          </a:prstGeom>
        </p:spPr>
      </p:pic>
      <p:sp>
        <p:nvSpPr>
          <p:cNvPr id="10" name="Text 6"/>
          <p:cNvSpPr txBox="1"/>
          <p:nvPr/>
        </p:nvSpPr>
        <p:spPr>
          <a:xfrm>
            <a:off x="548640" y="868680"/>
            <a:ext cx="5120640" cy="274320"/>
          </a:xfrm>
          <a:prstGeom prst="rect">
            <a:avLst/>
          </a:prstGeom>
          <a:noFill/>
          <a:ln/>
        </p:spPr>
        <p:txBody>
          <a:bodyPr wrap="square" lIns="0" tIns="0" rIns="0" bIns="0" rtlCol="0" anchor="ctr"/>
          <a:lstStyle/>
          <a:p>
            <a:pPr indent="0" marL="0">
              <a:buNone/>
            </a:pPr>
            <a:r>
              <a:rPr lang="en-US" sz="1100" b="1" spc="200" kern="0" dirty="0">
                <a:solidFill>
                  <a:srgbClr val="111111"/>
                </a:solidFill>
                <a:latin typeface="Calibri" pitchFamily="34" charset="0"/>
                <a:ea typeface="Calibri" pitchFamily="34" charset="-122"/>
                <a:cs typeface="Calibri" pitchFamily="34" charset="-120"/>
              </a:rPr>
              <a:t>EMBEDDED SYSTEMS CAPSTONE  ·  FINAL REVIEW</a:t>
            </a:r>
            <a:endParaRPr lang="en-US" sz="1100" dirty="0"/>
          </a:p>
        </p:txBody>
      </p:sp>
      <p:sp>
        <p:nvSpPr>
          <p:cNvPr id="11" name="Text 7"/>
          <p:cNvSpPr txBox="1"/>
          <p:nvPr/>
        </p:nvSpPr>
        <p:spPr>
          <a:xfrm>
            <a:off x="548640" y="1280160"/>
            <a:ext cx="5120640" cy="178308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Multi-Node Bluetooth Low Energy (BLE)-Based Classroom Presence Verification System Using ESP32</a:t>
            </a:r>
            <a:endParaRPr lang="en-US" sz="2800" dirty="0"/>
          </a:p>
        </p:txBody>
      </p:sp>
      <p:sp>
        <p:nvSpPr>
          <p:cNvPr id="12" name="Text 8"/>
          <p:cNvSpPr txBox="1"/>
          <p:nvPr/>
        </p:nvSpPr>
        <p:spPr>
          <a:xfrm>
            <a:off x="548640" y="3383280"/>
            <a:ext cx="5120640" cy="685800"/>
          </a:xfrm>
          <a:prstGeom prst="rect">
            <a:avLst/>
          </a:prstGeom>
          <a:noFill/>
          <a:ln/>
        </p:spPr>
        <p:txBody>
          <a:bodyPr wrap="square" lIns="0" tIns="0" rIns="0" bIns="0" rtlCol="0" anchor="t"/>
          <a:lstStyle/>
          <a:p>
            <a:pPr indent="0" marL="0">
              <a:spcAft>
                <a:spcPts val="400"/>
              </a:spcAft>
              <a:buNone/>
            </a:pPr>
            <a:r>
              <a:rPr lang="en-US" sz="1600" b="1" dirty="0">
                <a:solidFill>
                  <a:srgbClr val="111111"/>
                </a:solidFill>
                <a:latin typeface="Calibri" pitchFamily="34" charset="0"/>
                <a:ea typeface="Calibri" pitchFamily="34" charset="-122"/>
                <a:cs typeface="Calibri" pitchFamily="34" charset="-120"/>
              </a:rPr>
              <a:t>Kavin J S — CH.SC.U4CSE24119</a:t>
            </a:r>
            <a:endParaRPr lang="en-US" sz="1600" dirty="0"/>
          </a:p>
          <a:p>
            <a:pPr indent="0" marL="0">
              <a:spcAft>
                <a:spcPts val="400"/>
              </a:spcAft>
              <a:buNone/>
            </a:pPr>
            <a:r>
              <a:rPr lang="en-US" sz="1600" b="1" dirty="0">
                <a:solidFill>
                  <a:srgbClr val="111111"/>
                </a:solidFill>
                <a:latin typeface="Calibri" pitchFamily="34" charset="0"/>
                <a:ea typeface="Calibri" pitchFamily="34" charset="-122"/>
                <a:cs typeface="Calibri" pitchFamily="34" charset="-120"/>
              </a:rPr>
              <a:t>Lohith Krishnan — CH.SC.U4CSE24153</a:t>
            </a:r>
            <a:endParaRPr lang="en-US" sz="1600" dirty="0"/>
          </a:p>
        </p:txBody>
      </p:sp>
      <p:sp>
        <p:nvSpPr>
          <p:cNvPr id="13" name="Text 9"/>
          <p:cNvSpPr txBox="1"/>
          <p:nvPr/>
        </p:nvSpPr>
        <p:spPr>
          <a:xfrm>
            <a:off x="548640" y="4206240"/>
            <a:ext cx="5120640" cy="320040"/>
          </a:xfrm>
          <a:prstGeom prst="rect">
            <a:avLst/>
          </a:prstGeom>
          <a:noFill/>
          <a:ln/>
        </p:spPr>
        <p:txBody>
          <a:bodyPr wrap="square" lIns="0" tIns="0" rIns="0" bIns="0" rtlCol="0" anchor="t"/>
          <a:lstStyle/>
          <a:p>
            <a:pPr indent="0" marL="0">
              <a:buNone/>
            </a:pPr>
            <a:r>
              <a:rPr lang="en-US" sz="1400" dirty="0">
                <a:solidFill>
                  <a:srgbClr val="4D4D4D"/>
                </a:solidFill>
                <a:latin typeface="Calibri" pitchFamily="34" charset="0"/>
                <a:ea typeface="Calibri" pitchFamily="34" charset="-122"/>
                <a:cs typeface="Calibri" pitchFamily="34" charset="-120"/>
              </a:rPr>
              <a:t>CSE, Amrita Vishwa Vidyapeetham, Chennai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Problem &amp; Objective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8</a:t>
            </a:r>
            <a:endParaRPr lang="en-US" sz="900" dirty="0"/>
          </a:p>
        </p:txBody>
      </p:sp>
      <p:sp>
        <p:nvSpPr>
          <p:cNvPr id="6" name="Shape 3"/>
          <p:cNvSpPr/>
          <p:nvPr/>
        </p:nvSpPr>
        <p:spPr>
          <a:xfrm>
            <a:off x="457200" y="1188720"/>
            <a:ext cx="4480560" cy="3200400"/>
          </a:xfrm>
          <a:prstGeom prst="rect">
            <a:avLst/>
          </a:prstGeom>
          <a:solidFill>
            <a:srgbClr val="F2F2F2"/>
          </a:solidFill>
          <a:ln w="9525">
            <a:solidFill>
              <a:srgbClr val="BFBFBF"/>
            </a:solidFill>
            <a:prstDash val="solid"/>
          </a:ln>
        </p:spPr>
      </p:sp>
      <p:sp>
        <p:nvSpPr>
          <p:cNvPr id="7" name="Shape 4"/>
          <p:cNvSpPr/>
          <p:nvPr/>
        </p:nvSpPr>
        <p:spPr>
          <a:xfrm>
            <a:off x="685800" y="1371600"/>
            <a:ext cx="457200" cy="45720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00100" y="1485900"/>
            <a:ext cx="228600" cy="228600"/>
          </a:xfrm>
          <a:prstGeom prst="rect">
            <a:avLst/>
          </a:prstGeom>
        </p:spPr>
      </p:pic>
      <p:sp>
        <p:nvSpPr>
          <p:cNvPr id="9" name="Text 5"/>
          <p:cNvSpPr txBox="1"/>
          <p:nvPr/>
        </p:nvSpPr>
        <p:spPr>
          <a:xfrm>
            <a:off x="1325880" y="1371600"/>
            <a:ext cx="3383280" cy="457200"/>
          </a:xfrm>
          <a:prstGeom prst="rect">
            <a:avLst/>
          </a:prstGeom>
          <a:noFill/>
          <a:ln/>
        </p:spPr>
        <p:txBody>
          <a:bodyPr wrap="square" lIns="0" tIns="0" rIns="0" bIns="0" rtlCol="0" anchor="ctr"/>
          <a:lstStyle/>
          <a:p>
            <a:pPr indent="0" marL="0">
              <a:buNone/>
            </a:pPr>
            <a:r>
              <a:rPr lang="en-US" sz="2000" b="1" dirty="0">
                <a:solidFill>
                  <a:srgbClr val="111111"/>
                </a:solidFill>
                <a:latin typeface="Cambria" pitchFamily="34" charset="0"/>
                <a:ea typeface="Cambria" pitchFamily="34" charset="-122"/>
                <a:cs typeface="Cambria" pitchFamily="34" charset="-120"/>
              </a:rPr>
              <a:t>The Problem</a:t>
            </a:r>
            <a:endParaRPr lang="en-US" sz="2000" dirty="0"/>
          </a:p>
        </p:txBody>
      </p:sp>
      <p:sp>
        <p:nvSpPr>
          <p:cNvPr id="10" name="Text 6"/>
          <p:cNvSpPr txBox="1"/>
          <p:nvPr/>
        </p:nvSpPr>
        <p:spPr>
          <a:xfrm>
            <a:off x="685800" y="2057400"/>
            <a:ext cx="4023360" cy="2194560"/>
          </a:xfrm>
          <a:prstGeom prst="rect">
            <a:avLst/>
          </a:prstGeom>
          <a:noFill/>
          <a:ln/>
        </p:spPr>
        <p:txBody>
          <a:bodyPr wrap="square" lIns="0" tIns="0" rIns="0" bIns="0" rtlCol="0" anchor="t"/>
          <a:lstStyle/>
          <a:p>
            <a:pPr marL="177800" indent="-177800">
              <a:spcAft>
                <a:spcPts val="1400"/>
              </a:spcAft>
              <a:buSzPct val="100000"/>
              <a:buChar char="•"/>
            </a:pPr>
            <a:r>
              <a:rPr lang="en-US" sz="1700" dirty="0">
                <a:solidFill>
                  <a:srgbClr val="111111"/>
                </a:solidFill>
                <a:latin typeface="Calibri" pitchFamily="34" charset="0"/>
                <a:ea typeface="Calibri" pitchFamily="34" charset="-122"/>
                <a:cs typeface="Calibri" pitchFamily="34" charset="-120"/>
              </a:rPr>
              <a:t>Manual attendance is time-consuming and error-prone</a:t>
            </a:r>
            <a:endParaRPr lang="en-US" sz="1700" dirty="0"/>
          </a:p>
          <a:p>
            <a:pPr marL="177800" indent="-177800">
              <a:spcAft>
                <a:spcPts val="1400"/>
              </a:spcAft>
              <a:buSzPct val="100000"/>
              <a:buChar char="•"/>
            </a:pPr>
            <a:r>
              <a:rPr lang="en-US" sz="1700" dirty="0">
                <a:solidFill>
                  <a:srgbClr val="111111"/>
                </a:solidFill>
                <a:latin typeface="Calibri" pitchFamily="34" charset="0"/>
                <a:ea typeface="Calibri" pitchFamily="34" charset="-122"/>
                <a:cs typeface="Calibri" pitchFamily="34" charset="-120"/>
              </a:rPr>
              <a:t>Single-node BLE detection can miss devices</a:t>
            </a:r>
            <a:endParaRPr lang="en-US" sz="1700" dirty="0"/>
          </a:p>
          <a:p>
            <a:pPr marL="177800" indent="-177800">
              <a:spcAft>
                <a:spcPts val="1400"/>
              </a:spcAft>
              <a:buSzPct val="100000"/>
              <a:buChar char="•"/>
            </a:pPr>
            <a:r>
              <a:rPr lang="en-US" sz="1700" dirty="0">
                <a:solidFill>
                  <a:srgbClr val="111111"/>
                </a:solidFill>
                <a:latin typeface="Calibri" pitchFamily="34" charset="0"/>
                <a:ea typeface="Calibri" pitchFamily="34" charset="-122"/>
                <a:cs typeface="Calibri" pitchFamily="34" charset="-120"/>
              </a:rPr>
              <a:t>Need continuous classroom presence verification</a:t>
            </a:r>
            <a:endParaRPr lang="en-US" sz="1700" dirty="0"/>
          </a:p>
        </p:txBody>
      </p:sp>
      <p:sp>
        <p:nvSpPr>
          <p:cNvPr id="11" name="Shape 7"/>
          <p:cNvSpPr/>
          <p:nvPr/>
        </p:nvSpPr>
        <p:spPr>
          <a:xfrm>
            <a:off x="5212080" y="1188720"/>
            <a:ext cx="3474720" cy="3200400"/>
          </a:xfrm>
          <a:prstGeom prst="rect">
            <a:avLst/>
          </a:prstGeom>
          <a:solidFill>
            <a:srgbClr val="111111"/>
          </a:solidFill>
          <a:ln w="9525">
            <a:solidFill>
              <a:srgbClr val="111111"/>
            </a:solidFill>
            <a:prstDash val="solid"/>
          </a:ln>
        </p:spPr>
      </p:sp>
      <p:sp>
        <p:nvSpPr>
          <p:cNvPr id="12" name="Shape 8"/>
          <p:cNvSpPr/>
          <p:nvPr/>
        </p:nvSpPr>
        <p:spPr>
          <a:xfrm>
            <a:off x="5440680" y="1371600"/>
            <a:ext cx="457200" cy="457200"/>
          </a:xfrm>
          <a:prstGeom prst="ellipse">
            <a:avLst/>
          </a:prstGeom>
          <a:solidFill>
            <a:srgbClr val="FFFFFF"/>
          </a:solidFill>
          <a:ln w="12700">
            <a:solidFill>
              <a:srgbClr val="FFFFFF"/>
            </a:solidFill>
            <a:prstDash val="solid"/>
          </a:ln>
        </p:spPr>
      </p:sp>
      <p:pic>
        <p:nvPicPr>
          <p:cNvPr id="13" name="Image 1" descr="preencoded.png">    </p:cNvPr>
          <p:cNvPicPr>
            <a:picLocks noChangeAspect="1"/>
          </p:cNvPicPr>
          <p:nvPr/>
        </p:nvPicPr>
        <p:blipFill>
          <a:blip r:embed="rId2"/>
          <a:stretch>
            <a:fillRect/>
          </a:stretch>
        </p:blipFill>
        <p:spPr>
          <a:xfrm>
            <a:off x="5554980" y="1485900"/>
            <a:ext cx="228600" cy="228600"/>
          </a:xfrm>
          <a:prstGeom prst="rect">
            <a:avLst/>
          </a:prstGeom>
        </p:spPr>
      </p:pic>
      <p:sp>
        <p:nvSpPr>
          <p:cNvPr id="14" name="Text 9"/>
          <p:cNvSpPr txBox="1"/>
          <p:nvPr/>
        </p:nvSpPr>
        <p:spPr>
          <a:xfrm>
            <a:off x="6080760" y="1371600"/>
            <a:ext cx="237744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Objective</a:t>
            </a:r>
            <a:endParaRPr lang="en-US" sz="2000" dirty="0"/>
          </a:p>
        </p:txBody>
      </p:sp>
      <p:sp>
        <p:nvSpPr>
          <p:cNvPr id="15" name="Text 10"/>
          <p:cNvSpPr txBox="1"/>
          <p:nvPr/>
        </p:nvSpPr>
        <p:spPr>
          <a:xfrm>
            <a:off x="5440680" y="2057400"/>
            <a:ext cx="3017520" cy="2194560"/>
          </a:xfrm>
          <a:prstGeom prst="rect">
            <a:avLst/>
          </a:prstGeom>
          <a:noFill/>
          <a:ln/>
        </p:spPr>
        <p:txBody>
          <a:bodyPr wrap="square" lIns="0" tIns="0" rIns="0" bIns="0" rtlCol="0" anchor="t"/>
          <a:lstStyle/>
          <a:p>
            <a:pPr marL="177800" indent="-1778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Use multiple ESP32 BLE nodes for better observation coverage</a:t>
            </a:r>
            <a:endParaRPr lang="en-US" sz="1700" dirty="0"/>
          </a:p>
          <a:p>
            <a:pPr marL="177800" indent="-1778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Detect students who leave during class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Final System Architecture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 / 8</a:t>
            </a:r>
            <a:endParaRPr lang="en-US" sz="900" dirty="0"/>
          </a:p>
        </p:txBody>
      </p:sp>
      <p:sp>
        <p:nvSpPr>
          <p:cNvPr id="6" name="Text 3"/>
          <p:cNvSpPr txBox="1"/>
          <p:nvPr/>
        </p:nvSpPr>
        <p:spPr>
          <a:xfrm>
            <a:off x="457200" y="1371600"/>
            <a:ext cx="1463040" cy="2377440"/>
          </a:xfrm>
          <a:prstGeom prst="rect">
            <a:avLst/>
          </a:prstGeom>
          <a:solidFill>
            <a:srgbClr val="FFFFFF"/>
          </a:solidFill>
          <a:ln w="15875">
            <a:solidFill>
              <a:srgbClr val="111111"/>
            </a:solidFill>
          </a:ln>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Student Smartphones</a:t>
            </a:r>
            <a:endParaRPr lang="en-US" sz="1400" dirty="0"/>
          </a:p>
          <a:p>
            <a:pPr algn="ctr" indent="0" marL="0">
              <a:buNone/>
            </a:pPr>
            <a:r>
              <a:rPr lang="en-US" sz="1100" dirty="0">
                <a:solidFill>
                  <a:srgbClr val="4D4D4D"/>
                </a:solidFill>
                <a:latin typeface="Calibri" pitchFamily="34" charset="0"/>
                <a:ea typeface="Calibri" pitchFamily="34" charset="-122"/>
                <a:cs typeface="Calibri" pitchFamily="34" charset="-120"/>
              </a:rPr>
              <a:t>Registered devices advertising BLE names</a:t>
            </a:r>
            <a:endParaRPr lang="en-US" sz="1400" dirty="0"/>
          </a:p>
        </p:txBody>
      </p:sp>
      <p:sp>
        <p:nvSpPr>
          <p:cNvPr id="7" name="Text 4"/>
          <p:cNvSpPr txBox="1"/>
          <p:nvPr/>
        </p:nvSpPr>
        <p:spPr>
          <a:xfrm>
            <a:off x="2743200" y="1554480"/>
            <a:ext cx="1463040" cy="914400"/>
          </a:xfrm>
          <a:prstGeom prst="rect">
            <a:avLst/>
          </a:prstGeom>
          <a:solidFill>
            <a:srgbClr val="111111"/>
          </a:solidFill>
          <a:ln>
            <a:solidFill>
              <a:srgbClr val="111111"/>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ESP32 Node 1</a:t>
            </a:r>
            <a:endParaRPr lang="en-US" sz="1400" dirty="0"/>
          </a:p>
          <a:p>
            <a:pPr algn="ctr" indent="0" marL="0">
              <a:buNone/>
            </a:pPr>
            <a:r>
              <a:rPr lang="en-US" sz="1100" dirty="0">
                <a:solidFill>
                  <a:srgbClr val="D9D9D9"/>
                </a:solidFill>
                <a:latin typeface="Calibri" pitchFamily="34" charset="0"/>
                <a:ea typeface="Calibri" pitchFamily="34" charset="-122"/>
                <a:cs typeface="Calibri" pitchFamily="34" charset="-120"/>
              </a:rPr>
              <a:t>BLE scanner</a:t>
            </a:r>
            <a:endParaRPr lang="en-US" sz="1400" dirty="0"/>
          </a:p>
        </p:txBody>
      </p:sp>
      <p:sp>
        <p:nvSpPr>
          <p:cNvPr id="8" name="Text 5"/>
          <p:cNvSpPr txBox="1"/>
          <p:nvPr/>
        </p:nvSpPr>
        <p:spPr>
          <a:xfrm>
            <a:off x="2743200" y="2651760"/>
            <a:ext cx="1463040" cy="914400"/>
          </a:xfrm>
          <a:prstGeom prst="rect">
            <a:avLst/>
          </a:prstGeom>
          <a:solidFill>
            <a:srgbClr val="111111"/>
          </a:solidFill>
          <a:ln>
            <a:solidFill>
              <a:srgbClr val="111111"/>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ESP32 Node 2</a:t>
            </a:r>
            <a:endParaRPr lang="en-US" sz="1400" dirty="0"/>
          </a:p>
          <a:p>
            <a:pPr algn="ctr" indent="0" marL="0">
              <a:buNone/>
            </a:pPr>
            <a:r>
              <a:rPr lang="en-US" sz="1100" dirty="0">
                <a:solidFill>
                  <a:srgbClr val="D9D9D9"/>
                </a:solidFill>
                <a:latin typeface="Calibri" pitchFamily="34" charset="0"/>
                <a:ea typeface="Calibri" pitchFamily="34" charset="-122"/>
                <a:cs typeface="Calibri" pitchFamily="34" charset="-120"/>
              </a:rPr>
              <a:t>BLE scanner</a:t>
            </a:r>
            <a:endParaRPr lang="en-US" sz="1400" dirty="0"/>
          </a:p>
        </p:txBody>
      </p:sp>
      <p:sp>
        <p:nvSpPr>
          <p:cNvPr id="9" name="Shape 6"/>
          <p:cNvSpPr/>
          <p:nvPr/>
        </p:nvSpPr>
        <p:spPr>
          <a:xfrm>
            <a:off x="5029200" y="1371600"/>
            <a:ext cx="1828800" cy="2377440"/>
          </a:xfrm>
          <a:prstGeom prst="rect">
            <a:avLst/>
          </a:prstGeom>
          <a:solidFill>
            <a:srgbClr val="F2F2F2"/>
          </a:solidFill>
          <a:ln w="15875">
            <a:solidFill>
              <a:srgbClr val="111111"/>
            </a:solidFill>
            <a:prstDash val="solid"/>
          </a:ln>
        </p:spPr>
      </p:sp>
      <p:sp>
        <p:nvSpPr>
          <p:cNvPr id="10" name="Text 7"/>
          <p:cNvSpPr txBox="1"/>
          <p:nvPr/>
        </p:nvSpPr>
        <p:spPr>
          <a:xfrm>
            <a:off x="5102352" y="1444752"/>
            <a:ext cx="1682496" cy="54864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Python Flask Server</a:t>
            </a:r>
            <a:endParaRPr lang="en-US" sz="1300" dirty="0"/>
          </a:p>
          <a:p>
            <a:pPr algn="ctr" indent="0" marL="0">
              <a:buNone/>
            </a:pPr>
            <a:r>
              <a:rPr lang="en-US" sz="1100" dirty="0">
                <a:solidFill>
                  <a:srgbClr val="4D4D4D"/>
                </a:solidFill>
                <a:latin typeface="Calibri" pitchFamily="34" charset="0"/>
                <a:ea typeface="Calibri" pitchFamily="34" charset="-122"/>
                <a:cs typeface="Calibri" pitchFamily="34" charset="-120"/>
              </a:rPr>
              <a:t>(Laptop)</a:t>
            </a:r>
            <a:endParaRPr lang="en-US" sz="1300" dirty="0"/>
          </a:p>
        </p:txBody>
      </p:sp>
      <p:sp>
        <p:nvSpPr>
          <p:cNvPr id="11" name="Text 8"/>
          <p:cNvSpPr txBox="1"/>
          <p:nvPr/>
        </p:nvSpPr>
        <p:spPr>
          <a:xfrm>
            <a:off x="5212080" y="2194560"/>
            <a:ext cx="1463040" cy="1371600"/>
          </a:xfrm>
          <a:prstGeom prst="rect">
            <a:avLst/>
          </a:prstGeom>
          <a:solidFill>
            <a:srgbClr val="FFFFFF"/>
          </a:solidFill>
          <a:ln w="12700">
            <a:solidFill>
              <a:srgbClr val="111111"/>
            </a:solidFill>
          </a:ln>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Presence Verification</a:t>
            </a:r>
            <a:endParaRPr lang="en-US" sz="1200" dirty="0"/>
          </a:p>
          <a:p>
            <a:pPr algn="ctr" indent="0" marL="0">
              <a:buNone/>
            </a:pPr>
            <a:r>
              <a:rPr lang="en-US" sz="1000" dirty="0">
                <a:solidFill>
                  <a:srgbClr val="4D4D4D"/>
                </a:solidFill>
                <a:latin typeface="Calibri" pitchFamily="34" charset="0"/>
                <a:ea typeface="Calibri" pitchFamily="34" charset="-122"/>
                <a:cs typeface="Calibri" pitchFamily="34" charset="-120"/>
              </a:rPr>
              <a:t>Checks every 10 s using both nodes’ observations</a:t>
            </a:r>
            <a:endParaRPr lang="en-US" sz="1200" dirty="0"/>
          </a:p>
        </p:txBody>
      </p:sp>
      <p:sp>
        <p:nvSpPr>
          <p:cNvPr id="12" name="Text 9"/>
          <p:cNvSpPr txBox="1"/>
          <p:nvPr/>
        </p:nvSpPr>
        <p:spPr>
          <a:xfrm>
            <a:off x="7269480" y="1554480"/>
            <a:ext cx="1417320" cy="914400"/>
          </a:xfrm>
          <a:prstGeom prst="rect">
            <a:avLst/>
          </a:prstGeom>
          <a:solidFill>
            <a:srgbClr val="FFFFFF"/>
          </a:solidFill>
          <a:ln w="15875">
            <a:solidFill>
              <a:srgbClr val="111111"/>
            </a:solidFill>
          </a:ln>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Live Dashboard</a:t>
            </a:r>
            <a:endParaRPr lang="en-US" sz="1300" dirty="0"/>
          </a:p>
          <a:p>
            <a:pPr algn="ctr" indent="0" marL="0">
              <a:buNone/>
            </a:pPr>
            <a:r>
              <a:rPr lang="en-US" sz="1000" dirty="0">
                <a:solidFill>
                  <a:srgbClr val="4D4D4D"/>
                </a:solidFill>
                <a:latin typeface="Calibri" pitchFamily="34" charset="0"/>
                <a:ea typeface="Calibri" pitchFamily="34" charset="-122"/>
                <a:cs typeface="Calibri" pitchFamily="34" charset="-120"/>
              </a:rPr>
              <a:t>Node health, student state</a:t>
            </a:r>
            <a:endParaRPr lang="en-US" sz="1300" dirty="0"/>
          </a:p>
        </p:txBody>
      </p:sp>
      <p:sp>
        <p:nvSpPr>
          <p:cNvPr id="13" name="Text 10"/>
          <p:cNvSpPr txBox="1"/>
          <p:nvPr/>
        </p:nvSpPr>
        <p:spPr>
          <a:xfrm>
            <a:off x="7269480" y="2651760"/>
            <a:ext cx="1417320" cy="914400"/>
          </a:xfrm>
          <a:prstGeom prst="rect">
            <a:avLst/>
          </a:prstGeom>
          <a:solidFill>
            <a:srgbClr val="FFFFFF"/>
          </a:solidFill>
          <a:ln w="15875">
            <a:solidFill>
              <a:srgbClr val="111111"/>
            </a:solidFill>
          </a:ln>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CSV Attendance</a:t>
            </a:r>
            <a:endParaRPr lang="en-US" sz="1300" dirty="0"/>
          </a:p>
          <a:p>
            <a:pPr algn="ctr" indent="0" marL="0">
              <a:buNone/>
            </a:pPr>
            <a:r>
              <a:rPr lang="en-US" sz="1000" dirty="0">
                <a:solidFill>
                  <a:srgbClr val="4D4D4D"/>
                </a:solidFill>
                <a:latin typeface="Calibri" pitchFamily="34" charset="0"/>
                <a:ea typeface="Calibri" pitchFamily="34" charset="-122"/>
                <a:cs typeface="Calibri" pitchFamily="34" charset="-120"/>
              </a:rPr>
              <a:t>Persistent records</a:t>
            </a:r>
            <a:endParaRPr lang="en-US" sz="1300" dirty="0"/>
          </a:p>
        </p:txBody>
      </p:sp>
      <p:sp>
        <p:nvSpPr>
          <p:cNvPr id="14" name="Shape 11"/>
          <p:cNvSpPr/>
          <p:nvPr/>
        </p:nvSpPr>
        <p:spPr>
          <a:xfrm>
            <a:off x="1920240" y="2011680"/>
            <a:ext cx="822960" cy="0"/>
          </a:xfrm>
          <a:prstGeom prst="line">
            <a:avLst/>
          </a:prstGeom>
          <a:noFill/>
          <a:ln w="28575">
            <a:solidFill>
              <a:srgbClr val="111111"/>
            </a:solidFill>
            <a:prstDash val="solid"/>
            <a:tailEnd type="triangle"/>
          </a:ln>
        </p:spPr>
      </p:sp>
      <p:sp>
        <p:nvSpPr>
          <p:cNvPr id="15" name="Text 12"/>
          <p:cNvSpPr txBox="1"/>
          <p:nvPr/>
        </p:nvSpPr>
        <p:spPr>
          <a:xfrm>
            <a:off x="1920240" y="1719072"/>
            <a:ext cx="822960" cy="228600"/>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BLE</a:t>
            </a:r>
            <a:endParaRPr lang="en-US" sz="1100" dirty="0"/>
          </a:p>
        </p:txBody>
      </p:sp>
      <p:sp>
        <p:nvSpPr>
          <p:cNvPr id="16" name="Shape 13"/>
          <p:cNvSpPr/>
          <p:nvPr/>
        </p:nvSpPr>
        <p:spPr>
          <a:xfrm>
            <a:off x="4206240" y="2011680"/>
            <a:ext cx="822960" cy="0"/>
          </a:xfrm>
          <a:prstGeom prst="line">
            <a:avLst/>
          </a:prstGeom>
          <a:noFill/>
          <a:ln w="28575">
            <a:solidFill>
              <a:srgbClr val="111111"/>
            </a:solidFill>
            <a:prstDash val="dash"/>
            <a:tailEnd type="triangle"/>
          </a:ln>
        </p:spPr>
      </p:sp>
      <p:sp>
        <p:nvSpPr>
          <p:cNvPr id="17" name="Text 14"/>
          <p:cNvSpPr txBox="1"/>
          <p:nvPr/>
        </p:nvSpPr>
        <p:spPr>
          <a:xfrm>
            <a:off x="4160520" y="1719072"/>
            <a:ext cx="914400" cy="228600"/>
          </a:xfrm>
          <a:prstGeom prst="rect">
            <a:avLst/>
          </a:prstGeom>
          <a:noFill/>
          <a:ln/>
        </p:spPr>
        <p:txBody>
          <a:bodyPr wrap="square" lIns="0" tIns="0" rIns="0" bIns="0" rtlCol="0" anchor="ctr"/>
          <a:lstStyle/>
          <a:p>
            <a:pPr algn="ctr" indent="0" marL="0">
              <a:buNone/>
            </a:pPr>
            <a:r>
              <a:rPr lang="en-US" sz="1050" b="1" dirty="0">
                <a:solidFill>
                  <a:srgbClr val="111111"/>
                </a:solidFill>
                <a:latin typeface="Calibri" pitchFamily="34" charset="0"/>
                <a:ea typeface="Calibri" pitchFamily="34" charset="-122"/>
                <a:cs typeface="Calibri" pitchFamily="34" charset="-120"/>
              </a:rPr>
              <a:t>Wi-Fi / HTTP</a:t>
            </a:r>
            <a:endParaRPr lang="en-US" sz="1050" dirty="0"/>
          </a:p>
        </p:txBody>
      </p:sp>
      <p:sp>
        <p:nvSpPr>
          <p:cNvPr id="18" name="Shape 15"/>
          <p:cNvSpPr/>
          <p:nvPr/>
        </p:nvSpPr>
        <p:spPr>
          <a:xfrm>
            <a:off x="6858000" y="2011680"/>
            <a:ext cx="411480" cy="0"/>
          </a:xfrm>
          <a:prstGeom prst="line">
            <a:avLst/>
          </a:prstGeom>
          <a:noFill/>
          <a:ln w="19050">
            <a:solidFill>
              <a:srgbClr val="4D4D4D"/>
            </a:solidFill>
            <a:prstDash val="solid"/>
            <a:tailEnd type="triangle"/>
          </a:ln>
        </p:spPr>
      </p:sp>
      <p:sp>
        <p:nvSpPr>
          <p:cNvPr id="19" name="Shape 16"/>
          <p:cNvSpPr/>
          <p:nvPr/>
        </p:nvSpPr>
        <p:spPr>
          <a:xfrm>
            <a:off x="1920240" y="3108960"/>
            <a:ext cx="822960" cy="0"/>
          </a:xfrm>
          <a:prstGeom prst="line">
            <a:avLst/>
          </a:prstGeom>
          <a:noFill/>
          <a:ln w="28575">
            <a:solidFill>
              <a:srgbClr val="111111"/>
            </a:solidFill>
            <a:prstDash val="solid"/>
            <a:tailEnd type="triangle"/>
          </a:ln>
        </p:spPr>
      </p:sp>
      <p:sp>
        <p:nvSpPr>
          <p:cNvPr id="20" name="Text 17"/>
          <p:cNvSpPr txBox="1"/>
          <p:nvPr/>
        </p:nvSpPr>
        <p:spPr>
          <a:xfrm>
            <a:off x="1920240" y="2816352"/>
            <a:ext cx="822960" cy="228600"/>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BLE</a:t>
            </a:r>
            <a:endParaRPr lang="en-US" sz="1100" dirty="0"/>
          </a:p>
        </p:txBody>
      </p:sp>
      <p:sp>
        <p:nvSpPr>
          <p:cNvPr id="21" name="Shape 18"/>
          <p:cNvSpPr/>
          <p:nvPr/>
        </p:nvSpPr>
        <p:spPr>
          <a:xfrm>
            <a:off x="4206240" y="3108960"/>
            <a:ext cx="822960" cy="0"/>
          </a:xfrm>
          <a:prstGeom prst="line">
            <a:avLst/>
          </a:prstGeom>
          <a:noFill/>
          <a:ln w="28575">
            <a:solidFill>
              <a:srgbClr val="111111"/>
            </a:solidFill>
            <a:prstDash val="dash"/>
            <a:tailEnd type="triangle"/>
          </a:ln>
        </p:spPr>
      </p:sp>
      <p:sp>
        <p:nvSpPr>
          <p:cNvPr id="22" name="Text 19"/>
          <p:cNvSpPr txBox="1"/>
          <p:nvPr/>
        </p:nvSpPr>
        <p:spPr>
          <a:xfrm>
            <a:off x="4160520" y="2816352"/>
            <a:ext cx="914400" cy="228600"/>
          </a:xfrm>
          <a:prstGeom prst="rect">
            <a:avLst/>
          </a:prstGeom>
          <a:noFill/>
          <a:ln/>
        </p:spPr>
        <p:txBody>
          <a:bodyPr wrap="square" lIns="0" tIns="0" rIns="0" bIns="0" rtlCol="0" anchor="ctr"/>
          <a:lstStyle/>
          <a:p>
            <a:pPr algn="ctr" indent="0" marL="0">
              <a:buNone/>
            </a:pPr>
            <a:r>
              <a:rPr lang="en-US" sz="1050" b="1" dirty="0">
                <a:solidFill>
                  <a:srgbClr val="111111"/>
                </a:solidFill>
                <a:latin typeface="Calibri" pitchFamily="34" charset="0"/>
                <a:ea typeface="Calibri" pitchFamily="34" charset="-122"/>
                <a:cs typeface="Calibri" pitchFamily="34" charset="-120"/>
              </a:rPr>
              <a:t>Wi-Fi / HTTP</a:t>
            </a:r>
            <a:endParaRPr lang="en-US" sz="1050" dirty="0"/>
          </a:p>
        </p:txBody>
      </p:sp>
      <p:sp>
        <p:nvSpPr>
          <p:cNvPr id="23" name="Shape 20"/>
          <p:cNvSpPr/>
          <p:nvPr/>
        </p:nvSpPr>
        <p:spPr>
          <a:xfrm>
            <a:off x="6858000" y="3108960"/>
            <a:ext cx="411480" cy="0"/>
          </a:xfrm>
          <a:prstGeom prst="line">
            <a:avLst/>
          </a:prstGeom>
          <a:noFill/>
          <a:ln w="19050">
            <a:solidFill>
              <a:srgbClr val="4D4D4D"/>
            </a:solidFill>
            <a:prstDash val="solid"/>
            <a:tailEnd type="triangle"/>
          </a:ln>
        </p:spPr>
      </p:sp>
      <p:sp>
        <p:nvSpPr>
          <p:cNvPr id="24" name="Shape 21"/>
          <p:cNvSpPr/>
          <p:nvPr/>
        </p:nvSpPr>
        <p:spPr>
          <a:xfrm>
            <a:off x="457200" y="4069080"/>
            <a:ext cx="548640" cy="0"/>
          </a:xfrm>
          <a:prstGeom prst="line">
            <a:avLst/>
          </a:prstGeom>
          <a:noFill/>
          <a:ln w="28575">
            <a:solidFill>
              <a:srgbClr val="111111"/>
            </a:solidFill>
            <a:prstDash val="solid"/>
          </a:ln>
        </p:spPr>
      </p:sp>
      <p:sp>
        <p:nvSpPr>
          <p:cNvPr id="25" name="Text 22"/>
          <p:cNvSpPr txBox="1"/>
          <p:nvPr/>
        </p:nvSpPr>
        <p:spPr>
          <a:xfrm>
            <a:off x="1143000" y="3950208"/>
            <a:ext cx="2377440" cy="237744"/>
          </a:xfrm>
          <a:prstGeom prst="rect">
            <a:avLst/>
          </a:prstGeom>
          <a:noFill/>
          <a:ln/>
        </p:spPr>
        <p:txBody>
          <a:bodyPr wrap="square" lIns="0" tIns="0" rIns="0" bIns="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BLE: Smartphone → ESP32</a:t>
            </a:r>
            <a:endParaRPr lang="en-US" sz="1200" dirty="0"/>
          </a:p>
        </p:txBody>
      </p:sp>
      <p:sp>
        <p:nvSpPr>
          <p:cNvPr id="26" name="Shape 23"/>
          <p:cNvSpPr/>
          <p:nvPr/>
        </p:nvSpPr>
        <p:spPr>
          <a:xfrm>
            <a:off x="3840480" y="4069080"/>
            <a:ext cx="548640" cy="0"/>
          </a:xfrm>
          <a:prstGeom prst="line">
            <a:avLst/>
          </a:prstGeom>
          <a:noFill/>
          <a:ln w="28575">
            <a:solidFill>
              <a:srgbClr val="111111"/>
            </a:solidFill>
            <a:prstDash val="dash"/>
          </a:ln>
        </p:spPr>
      </p:sp>
      <p:sp>
        <p:nvSpPr>
          <p:cNvPr id="27" name="Text 24"/>
          <p:cNvSpPr txBox="1"/>
          <p:nvPr/>
        </p:nvSpPr>
        <p:spPr>
          <a:xfrm>
            <a:off x="4526280" y="3950208"/>
            <a:ext cx="2377440" cy="237744"/>
          </a:xfrm>
          <a:prstGeom prst="rect">
            <a:avLst/>
          </a:prstGeom>
          <a:noFill/>
          <a:ln/>
        </p:spPr>
        <p:txBody>
          <a:bodyPr wrap="square" lIns="0" tIns="0" rIns="0" bIns="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Wi-Fi: ESP32 → Laptop</a:t>
            </a:r>
            <a:endParaRPr lang="en-US" sz="1200" dirty="0"/>
          </a:p>
        </p:txBody>
      </p:sp>
      <p:sp>
        <p:nvSpPr>
          <p:cNvPr id="28" name="Text 25"/>
          <p:cNvSpPr txBox="1"/>
          <p:nvPr/>
        </p:nvSpPr>
        <p:spPr>
          <a:xfrm>
            <a:off x="457200" y="4297680"/>
            <a:ext cx="8229600" cy="384048"/>
          </a:xfrm>
          <a:prstGeom prst="rect">
            <a:avLst/>
          </a:prstGeom>
          <a:noFill/>
          <a:ln/>
        </p:spPr>
        <p:txBody>
          <a:bodyPr wrap="square" lIns="0" tIns="0" rIns="0" bIns="0" rtlCol="0" anchor="t"/>
          <a:lstStyle/>
          <a:p>
            <a:pPr indent="0" marL="0">
              <a:buNone/>
            </a:pPr>
            <a:r>
              <a:rPr lang="en-US" sz="1100" i="1" dirty="0">
                <a:solidFill>
                  <a:srgbClr val="4D4D4D"/>
                </a:solidFill>
                <a:latin typeface="Calibri" pitchFamily="34" charset="0"/>
                <a:ea typeface="Calibri" pitchFamily="34" charset="-122"/>
                <a:cs typeface="Calibri" pitchFamily="34" charset="-120"/>
              </a:rPr>
              <a:t>Nodes send detections and a periodic heartbeat. The system verifies the presence of a registered BLE device, not the identity of a person.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Hardware &amp; Software Implementation</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8</a:t>
            </a:r>
            <a:endParaRPr lang="en-US" sz="900" dirty="0"/>
          </a:p>
        </p:txBody>
      </p:sp>
      <p:sp>
        <p:nvSpPr>
          <p:cNvPr id="6" name="Shape 3"/>
          <p:cNvSpPr/>
          <p:nvPr/>
        </p:nvSpPr>
        <p:spPr>
          <a:xfrm>
            <a:off x="457200" y="1188720"/>
            <a:ext cx="4023360" cy="3200400"/>
          </a:xfrm>
          <a:prstGeom prst="rect">
            <a:avLst/>
          </a:prstGeom>
          <a:solidFill>
            <a:srgbClr val="F2F2F2"/>
          </a:solidFill>
          <a:ln w="9525">
            <a:solidFill>
              <a:srgbClr val="BFBFBF"/>
            </a:solidFill>
            <a:prstDash val="solid"/>
          </a:ln>
        </p:spPr>
      </p:sp>
      <p:sp>
        <p:nvSpPr>
          <p:cNvPr id="7" name="Shape 4"/>
          <p:cNvSpPr/>
          <p:nvPr/>
        </p:nvSpPr>
        <p:spPr>
          <a:xfrm>
            <a:off x="685800" y="1371600"/>
            <a:ext cx="457200" cy="45720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00100" y="1485900"/>
            <a:ext cx="228600" cy="228600"/>
          </a:xfrm>
          <a:prstGeom prst="rect">
            <a:avLst/>
          </a:prstGeom>
        </p:spPr>
      </p:pic>
      <p:sp>
        <p:nvSpPr>
          <p:cNvPr id="9" name="Text 5"/>
          <p:cNvSpPr txBox="1"/>
          <p:nvPr/>
        </p:nvSpPr>
        <p:spPr>
          <a:xfrm>
            <a:off x="1325880" y="1371600"/>
            <a:ext cx="2926080" cy="457200"/>
          </a:xfrm>
          <a:prstGeom prst="rect">
            <a:avLst/>
          </a:prstGeom>
          <a:noFill/>
          <a:ln/>
        </p:spPr>
        <p:txBody>
          <a:bodyPr wrap="square" lIns="0" tIns="0" rIns="0" bIns="0" rtlCol="0" anchor="ctr"/>
          <a:lstStyle/>
          <a:p>
            <a:pPr indent="0" marL="0">
              <a:buNone/>
            </a:pPr>
            <a:r>
              <a:rPr lang="en-US" sz="2000" b="1" dirty="0">
                <a:solidFill>
                  <a:srgbClr val="111111"/>
                </a:solidFill>
                <a:latin typeface="Cambria" pitchFamily="34" charset="0"/>
                <a:ea typeface="Cambria" pitchFamily="34" charset="-122"/>
                <a:cs typeface="Cambria" pitchFamily="34" charset="-120"/>
              </a:rPr>
              <a:t>Hardware</a:t>
            </a:r>
            <a:endParaRPr lang="en-US" sz="2000" dirty="0"/>
          </a:p>
        </p:txBody>
      </p:sp>
      <p:sp>
        <p:nvSpPr>
          <p:cNvPr id="10" name="Text 6"/>
          <p:cNvSpPr txBox="1"/>
          <p:nvPr/>
        </p:nvSpPr>
        <p:spPr>
          <a:xfrm>
            <a:off x="685800" y="2057400"/>
            <a:ext cx="3566160" cy="21945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111111"/>
                </a:solidFill>
                <a:latin typeface="Calibri" pitchFamily="34" charset="0"/>
                <a:ea typeface="Calibri" pitchFamily="34" charset="-122"/>
                <a:cs typeface="Calibri" pitchFamily="34" charset="-120"/>
              </a:rPr>
              <a:t>2 × ESP32-WROOM-32</a:t>
            </a:r>
            <a:endParaRPr lang="en-US" sz="1500" dirty="0"/>
          </a:p>
          <a:p>
            <a:pPr marL="177800" indent="-177800">
              <a:spcAft>
                <a:spcPts val="900"/>
              </a:spcAft>
              <a:buSzPct val="100000"/>
              <a:buChar char="•"/>
            </a:pPr>
            <a:r>
              <a:rPr lang="en-US" sz="1500" dirty="0">
                <a:solidFill>
                  <a:srgbClr val="111111"/>
                </a:solidFill>
                <a:latin typeface="Calibri" pitchFamily="34" charset="0"/>
                <a:ea typeface="Calibri" pitchFamily="34" charset="-122"/>
                <a:cs typeface="Calibri" pitchFamily="34" charset="-120"/>
              </a:rPr>
              <a:t>Smartphones (nRF Connect advertiser)</a:t>
            </a:r>
            <a:endParaRPr lang="en-US" sz="1500" dirty="0"/>
          </a:p>
          <a:p>
            <a:pPr marL="177800" indent="-177800">
              <a:spcAft>
                <a:spcPts val="900"/>
              </a:spcAft>
              <a:buSzPct val="100000"/>
              <a:buChar char="•"/>
            </a:pPr>
            <a:r>
              <a:rPr lang="en-US" sz="1500" dirty="0">
                <a:solidFill>
                  <a:srgbClr val="111111"/>
                </a:solidFill>
                <a:latin typeface="Calibri" pitchFamily="34" charset="0"/>
                <a:ea typeface="Calibri" pitchFamily="34" charset="-122"/>
                <a:cs typeface="Calibri" pitchFamily="34" charset="-120"/>
              </a:rPr>
              <a:t>LEDs + resistors</a:t>
            </a:r>
            <a:endParaRPr lang="en-US" sz="1500" dirty="0"/>
          </a:p>
          <a:p>
            <a:pPr marL="177800" indent="-177800">
              <a:spcAft>
                <a:spcPts val="900"/>
              </a:spcAft>
              <a:buSzPct val="100000"/>
              <a:buChar char="•"/>
            </a:pPr>
            <a:r>
              <a:rPr lang="en-US" sz="1500" dirty="0">
                <a:solidFill>
                  <a:srgbClr val="111111"/>
                </a:solidFill>
                <a:latin typeface="Calibri" pitchFamily="34" charset="0"/>
                <a:ea typeface="Calibri" pitchFamily="34" charset="-122"/>
                <a:cs typeface="Calibri" pitchFamily="34" charset="-120"/>
              </a:rPr>
              <a:t>Breadboards / jumper wires</a:t>
            </a:r>
            <a:endParaRPr lang="en-US" sz="1500" dirty="0"/>
          </a:p>
          <a:p>
            <a:pPr marL="177800" indent="-177800">
              <a:spcAft>
                <a:spcPts val="900"/>
              </a:spcAft>
              <a:buSzPct val="100000"/>
              <a:buChar char="•"/>
            </a:pPr>
            <a:r>
              <a:rPr lang="en-US" sz="1500" dirty="0">
                <a:solidFill>
                  <a:srgbClr val="111111"/>
                </a:solidFill>
                <a:latin typeface="Calibri" pitchFamily="34" charset="0"/>
                <a:ea typeface="Calibri" pitchFamily="34" charset="-122"/>
                <a:cs typeface="Calibri" pitchFamily="34" charset="-120"/>
              </a:rPr>
              <a:t>Laptop</a:t>
            </a:r>
            <a:endParaRPr lang="en-US" sz="1500" dirty="0"/>
          </a:p>
        </p:txBody>
      </p:sp>
      <p:sp>
        <p:nvSpPr>
          <p:cNvPr id="11" name="Shape 7"/>
          <p:cNvSpPr/>
          <p:nvPr/>
        </p:nvSpPr>
        <p:spPr>
          <a:xfrm>
            <a:off x="4663440" y="1188720"/>
            <a:ext cx="4023360" cy="3200400"/>
          </a:xfrm>
          <a:prstGeom prst="rect">
            <a:avLst/>
          </a:prstGeom>
          <a:solidFill>
            <a:srgbClr val="F2F2F2"/>
          </a:solidFill>
          <a:ln w="9525">
            <a:solidFill>
              <a:srgbClr val="BFBFBF"/>
            </a:solidFill>
            <a:prstDash val="solid"/>
          </a:ln>
        </p:spPr>
      </p:sp>
      <p:sp>
        <p:nvSpPr>
          <p:cNvPr id="12" name="Shape 8"/>
          <p:cNvSpPr/>
          <p:nvPr/>
        </p:nvSpPr>
        <p:spPr>
          <a:xfrm>
            <a:off x="4892040" y="1371600"/>
            <a:ext cx="457200" cy="457200"/>
          </a:xfrm>
          <a:prstGeom prst="ellipse">
            <a:avLst/>
          </a:prstGeom>
          <a:solidFill>
            <a:srgbClr val="111111"/>
          </a:solidFill>
          <a:ln w="12700">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5006340" y="1485900"/>
            <a:ext cx="228600" cy="228600"/>
          </a:xfrm>
          <a:prstGeom prst="rect">
            <a:avLst/>
          </a:prstGeom>
        </p:spPr>
      </p:pic>
      <p:sp>
        <p:nvSpPr>
          <p:cNvPr id="14" name="Text 9"/>
          <p:cNvSpPr txBox="1"/>
          <p:nvPr/>
        </p:nvSpPr>
        <p:spPr>
          <a:xfrm>
            <a:off x="5532120" y="1371600"/>
            <a:ext cx="2926080" cy="457200"/>
          </a:xfrm>
          <a:prstGeom prst="rect">
            <a:avLst/>
          </a:prstGeom>
          <a:noFill/>
          <a:ln/>
        </p:spPr>
        <p:txBody>
          <a:bodyPr wrap="square" lIns="0" tIns="0" rIns="0" bIns="0" rtlCol="0" anchor="ctr"/>
          <a:lstStyle/>
          <a:p>
            <a:pPr indent="0" marL="0">
              <a:buNone/>
            </a:pPr>
            <a:r>
              <a:rPr lang="en-US" sz="2000" b="1" dirty="0">
                <a:solidFill>
                  <a:srgbClr val="111111"/>
                </a:solidFill>
                <a:latin typeface="Cambria" pitchFamily="34" charset="0"/>
                <a:ea typeface="Cambria" pitchFamily="34" charset="-122"/>
                <a:cs typeface="Cambria" pitchFamily="34" charset="-120"/>
              </a:rPr>
              <a:t>Software</a:t>
            </a:r>
            <a:endParaRPr lang="en-US" sz="2000" dirty="0"/>
          </a:p>
        </p:txBody>
      </p:sp>
      <p:sp>
        <p:nvSpPr>
          <p:cNvPr id="15" name="Text 10"/>
          <p:cNvSpPr txBox="1"/>
          <p:nvPr/>
        </p:nvSpPr>
        <p:spPr>
          <a:xfrm>
            <a:off x="4892040" y="2057400"/>
            <a:ext cx="35661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Arduino IDE + ESP32 framework</a:t>
            </a:r>
            <a:endParaRPr lang="en-US" sz="1500" dirty="0"/>
          </a:p>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BLE scanning</a:t>
            </a:r>
            <a:endParaRPr lang="en-US" sz="1500" dirty="0"/>
          </a:p>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Wi-Fi + HTTP/REST</a:t>
            </a:r>
            <a:endParaRPr lang="en-US" sz="1500" dirty="0"/>
          </a:p>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Python Flask</a:t>
            </a:r>
            <a:endParaRPr lang="en-US" sz="1500" dirty="0"/>
          </a:p>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Rule-based presence logic</a:t>
            </a:r>
            <a:endParaRPr lang="en-US" sz="1500" dirty="0"/>
          </a:p>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Web dashboard</a:t>
            </a:r>
            <a:endParaRPr lang="en-US" sz="1500" dirty="0"/>
          </a:p>
          <a:p>
            <a:pPr marL="177800" indent="-1778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CSV attendance storage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Working &amp; Verification Logic</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 / 8</a:t>
            </a:r>
            <a:endParaRPr lang="en-US" sz="900" dirty="0"/>
          </a:p>
        </p:txBody>
      </p:sp>
      <p:sp>
        <p:nvSpPr>
          <p:cNvPr id="6" name="Shape 3"/>
          <p:cNvSpPr/>
          <p:nvPr/>
        </p:nvSpPr>
        <p:spPr>
          <a:xfrm>
            <a:off x="457200" y="1051560"/>
            <a:ext cx="1920240" cy="914400"/>
          </a:xfrm>
          <a:prstGeom prst="rect">
            <a:avLst/>
          </a:prstGeom>
          <a:solidFill>
            <a:srgbClr val="F2F2F2"/>
          </a:solidFill>
          <a:ln w="9525">
            <a:solidFill>
              <a:srgbClr val="BFBFBF"/>
            </a:solidFill>
            <a:prstDash val="solid"/>
          </a:ln>
        </p:spPr>
      </p:sp>
      <p:sp>
        <p:nvSpPr>
          <p:cNvPr id="7" name="Shape 4"/>
          <p:cNvSpPr/>
          <p:nvPr/>
        </p:nvSpPr>
        <p:spPr>
          <a:xfrm>
            <a:off x="594360" y="1161288"/>
            <a:ext cx="310896" cy="310896"/>
          </a:xfrm>
          <a:prstGeom prst="ellipse">
            <a:avLst/>
          </a:prstGeom>
          <a:solidFill>
            <a:srgbClr val="111111"/>
          </a:solidFill>
          <a:ln w="12700">
            <a:solidFill>
              <a:srgbClr val="111111"/>
            </a:solidFill>
            <a:prstDash val="solid"/>
          </a:ln>
        </p:spPr>
      </p:sp>
      <p:sp>
        <p:nvSpPr>
          <p:cNvPr id="8" name="Text 5"/>
          <p:cNvSpPr txBox="1"/>
          <p:nvPr/>
        </p:nvSpPr>
        <p:spPr>
          <a:xfrm>
            <a:off x="594360" y="11612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05840" y="1161288"/>
            <a:ext cx="1234440" cy="310896"/>
          </a:xfrm>
          <a:prstGeom prst="rect">
            <a:avLst/>
          </a:prstGeom>
          <a:noFill/>
          <a:ln/>
        </p:spPr>
        <p:txBody>
          <a:bodyPr wrap="square" lIns="0" tIns="0" rIns="0" bIns="0" rtlCol="0" anchor="ctr"/>
          <a:lstStyle/>
          <a:p>
            <a:pPr indent="0" marL="0">
              <a:buNone/>
            </a:pPr>
            <a:r>
              <a:rPr lang="en-US" sz="1500" b="1" dirty="0">
                <a:solidFill>
                  <a:srgbClr val="111111"/>
                </a:solidFill>
                <a:latin typeface="Cambria" pitchFamily="34" charset="0"/>
                <a:ea typeface="Cambria" pitchFamily="34" charset="-122"/>
                <a:cs typeface="Cambria" pitchFamily="34" charset="-120"/>
              </a:rPr>
              <a:t>Advertise</a:t>
            </a:r>
            <a:endParaRPr lang="en-US" sz="1500" dirty="0"/>
          </a:p>
        </p:txBody>
      </p:sp>
      <p:sp>
        <p:nvSpPr>
          <p:cNvPr id="10" name="Text 7"/>
          <p:cNvSpPr txBox="1"/>
          <p:nvPr/>
        </p:nvSpPr>
        <p:spPr>
          <a:xfrm>
            <a:off x="594360" y="1554480"/>
            <a:ext cx="1645920" cy="365760"/>
          </a:xfrm>
          <a:prstGeom prst="rect">
            <a:avLst/>
          </a:prstGeom>
          <a:noFill/>
          <a:ln/>
        </p:spPr>
        <p:txBody>
          <a:bodyPr wrap="square" lIns="0" tIns="0" rIns="0" bIns="0" rtlCol="0" anchor="t"/>
          <a:lstStyle/>
          <a:p>
            <a:pPr indent="0" marL="0">
              <a:buNone/>
            </a:pPr>
            <a:r>
              <a:rPr lang="en-US" sz="1200" dirty="0">
                <a:solidFill>
                  <a:srgbClr val="111111"/>
                </a:solidFill>
                <a:latin typeface="Calibri" pitchFamily="34" charset="0"/>
                <a:ea typeface="Calibri" pitchFamily="34" charset="-122"/>
                <a:cs typeface="Calibri" pitchFamily="34" charset="-120"/>
              </a:rPr>
              <a:t>Registered phones advertise BLE names</a:t>
            </a:r>
            <a:endParaRPr lang="en-US" sz="1200" dirty="0"/>
          </a:p>
        </p:txBody>
      </p:sp>
      <p:sp>
        <p:nvSpPr>
          <p:cNvPr id="11" name="Shape 8"/>
          <p:cNvSpPr/>
          <p:nvPr/>
        </p:nvSpPr>
        <p:spPr>
          <a:xfrm>
            <a:off x="2560320" y="1051560"/>
            <a:ext cx="1920240" cy="914400"/>
          </a:xfrm>
          <a:prstGeom prst="rect">
            <a:avLst/>
          </a:prstGeom>
          <a:solidFill>
            <a:srgbClr val="F2F2F2"/>
          </a:solidFill>
          <a:ln w="9525">
            <a:solidFill>
              <a:srgbClr val="BFBFBF"/>
            </a:solidFill>
            <a:prstDash val="solid"/>
          </a:ln>
        </p:spPr>
      </p:sp>
      <p:sp>
        <p:nvSpPr>
          <p:cNvPr id="12" name="Shape 9"/>
          <p:cNvSpPr/>
          <p:nvPr/>
        </p:nvSpPr>
        <p:spPr>
          <a:xfrm>
            <a:off x="2697480" y="1161288"/>
            <a:ext cx="310896" cy="310896"/>
          </a:xfrm>
          <a:prstGeom prst="ellipse">
            <a:avLst/>
          </a:prstGeom>
          <a:solidFill>
            <a:srgbClr val="111111"/>
          </a:solidFill>
          <a:ln w="12700">
            <a:solidFill>
              <a:srgbClr val="111111"/>
            </a:solidFill>
            <a:prstDash val="solid"/>
          </a:ln>
        </p:spPr>
      </p:sp>
      <p:sp>
        <p:nvSpPr>
          <p:cNvPr id="13" name="Text 10"/>
          <p:cNvSpPr txBox="1"/>
          <p:nvPr/>
        </p:nvSpPr>
        <p:spPr>
          <a:xfrm>
            <a:off x="2697480" y="11612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3108960" y="1161288"/>
            <a:ext cx="1234440" cy="310896"/>
          </a:xfrm>
          <a:prstGeom prst="rect">
            <a:avLst/>
          </a:prstGeom>
          <a:noFill/>
          <a:ln/>
        </p:spPr>
        <p:txBody>
          <a:bodyPr wrap="square" lIns="0" tIns="0" rIns="0" bIns="0" rtlCol="0" anchor="ctr"/>
          <a:lstStyle/>
          <a:p>
            <a:pPr indent="0" marL="0">
              <a:buNone/>
            </a:pPr>
            <a:r>
              <a:rPr lang="en-US" sz="1500" b="1" dirty="0">
                <a:solidFill>
                  <a:srgbClr val="111111"/>
                </a:solidFill>
                <a:latin typeface="Cambria" pitchFamily="34" charset="0"/>
                <a:ea typeface="Cambria" pitchFamily="34" charset="-122"/>
                <a:cs typeface="Cambria" pitchFamily="34" charset="-120"/>
              </a:rPr>
              <a:t>Scan</a:t>
            </a:r>
            <a:endParaRPr lang="en-US" sz="1500" dirty="0"/>
          </a:p>
        </p:txBody>
      </p:sp>
      <p:sp>
        <p:nvSpPr>
          <p:cNvPr id="15" name="Text 12"/>
          <p:cNvSpPr txBox="1"/>
          <p:nvPr/>
        </p:nvSpPr>
        <p:spPr>
          <a:xfrm>
            <a:off x="2697480" y="1554480"/>
            <a:ext cx="1645920" cy="365760"/>
          </a:xfrm>
          <a:prstGeom prst="rect">
            <a:avLst/>
          </a:prstGeom>
          <a:noFill/>
          <a:ln/>
        </p:spPr>
        <p:txBody>
          <a:bodyPr wrap="square" lIns="0" tIns="0" rIns="0" bIns="0" rtlCol="0" anchor="t"/>
          <a:lstStyle/>
          <a:p>
            <a:pPr indent="0" marL="0">
              <a:buNone/>
            </a:pPr>
            <a:r>
              <a:rPr lang="en-US" sz="1200" dirty="0">
                <a:solidFill>
                  <a:srgbClr val="111111"/>
                </a:solidFill>
                <a:latin typeface="Calibri" pitchFamily="34" charset="0"/>
                <a:ea typeface="Calibri" pitchFamily="34" charset="-122"/>
                <a:cs typeface="Calibri" pitchFamily="34" charset="-120"/>
              </a:rPr>
              <a:t>Both ESP32 nodes scan continuously</a:t>
            </a:r>
            <a:endParaRPr lang="en-US" sz="1200" dirty="0"/>
          </a:p>
        </p:txBody>
      </p:sp>
      <p:sp>
        <p:nvSpPr>
          <p:cNvPr id="16" name="Shape 13"/>
          <p:cNvSpPr/>
          <p:nvPr/>
        </p:nvSpPr>
        <p:spPr>
          <a:xfrm>
            <a:off x="4663440" y="1051560"/>
            <a:ext cx="1920240" cy="914400"/>
          </a:xfrm>
          <a:prstGeom prst="rect">
            <a:avLst/>
          </a:prstGeom>
          <a:solidFill>
            <a:srgbClr val="F2F2F2"/>
          </a:solidFill>
          <a:ln w="9525">
            <a:solidFill>
              <a:srgbClr val="BFBFBF"/>
            </a:solidFill>
            <a:prstDash val="solid"/>
          </a:ln>
        </p:spPr>
      </p:sp>
      <p:sp>
        <p:nvSpPr>
          <p:cNvPr id="17" name="Shape 14"/>
          <p:cNvSpPr/>
          <p:nvPr/>
        </p:nvSpPr>
        <p:spPr>
          <a:xfrm>
            <a:off x="4800600" y="1161288"/>
            <a:ext cx="310896" cy="310896"/>
          </a:xfrm>
          <a:prstGeom prst="ellipse">
            <a:avLst/>
          </a:prstGeom>
          <a:solidFill>
            <a:srgbClr val="111111"/>
          </a:solidFill>
          <a:ln w="12700">
            <a:solidFill>
              <a:srgbClr val="111111"/>
            </a:solidFill>
            <a:prstDash val="solid"/>
          </a:ln>
        </p:spPr>
      </p:sp>
      <p:sp>
        <p:nvSpPr>
          <p:cNvPr id="18" name="Text 15"/>
          <p:cNvSpPr txBox="1"/>
          <p:nvPr/>
        </p:nvSpPr>
        <p:spPr>
          <a:xfrm>
            <a:off x="4800600" y="11612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5212080" y="1161288"/>
            <a:ext cx="1234440" cy="310896"/>
          </a:xfrm>
          <a:prstGeom prst="rect">
            <a:avLst/>
          </a:prstGeom>
          <a:noFill/>
          <a:ln/>
        </p:spPr>
        <p:txBody>
          <a:bodyPr wrap="square" lIns="0" tIns="0" rIns="0" bIns="0" rtlCol="0" anchor="ctr"/>
          <a:lstStyle/>
          <a:p>
            <a:pPr indent="0" marL="0">
              <a:buNone/>
            </a:pPr>
            <a:r>
              <a:rPr lang="en-US" sz="1500" b="1" dirty="0">
                <a:solidFill>
                  <a:srgbClr val="111111"/>
                </a:solidFill>
                <a:latin typeface="Cambria" pitchFamily="34" charset="0"/>
                <a:ea typeface="Cambria" pitchFamily="34" charset="-122"/>
                <a:cs typeface="Cambria" pitchFamily="34" charset="-120"/>
              </a:rPr>
              <a:t>Report</a:t>
            </a:r>
            <a:endParaRPr lang="en-US" sz="1500" dirty="0"/>
          </a:p>
        </p:txBody>
      </p:sp>
      <p:sp>
        <p:nvSpPr>
          <p:cNvPr id="20" name="Text 17"/>
          <p:cNvSpPr txBox="1"/>
          <p:nvPr/>
        </p:nvSpPr>
        <p:spPr>
          <a:xfrm>
            <a:off x="4800600" y="1554480"/>
            <a:ext cx="1645920" cy="365760"/>
          </a:xfrm>
          <a:prstGeom prst="rect">
            <a:avLst/>
          </a:prstGeom>
          <a:noFill/>
          <a:ln/>
        </p:spPr>
        <p:txBody>
          <a:bodyPr wrap="square" lIns="0" tIns="0" rIns="0" bIns="0" rtlCol="0" anchor="t"/>
          <a:lstStyle/>
          <a:p>
            <a:pPr indent="0" marL="0">
              <a:buNone/>
            </a:pPr>
            <a:r>
              <a:rPr lang="en-US" sz="1200" dirty="0">
                <a:solidFill>
                  <a:srgbClr val="111111"/>
                </a:solidFill>
                <a:latin typeface="Calibri" pitchFamily="34" charset="0"/>
                <a:ea typeface="Calibri" pitchFamily="34" charset="-122"/>
                <a:cs typeface="Calibri" pitchFamily="34" charset="-120"/>
              </a:rPr>
              <a:t>Each detection: name, MAC, RSSI</a:t>
            </a:r>
            <a:endParaRPr lang="en-US" sz="1200" dirty="0"/>
          </a:p>
        </p:txBody>
      </p:sp>
      <p:sp>
        <p:nvSpPr>
          <p:cNvPr id="21" name="Shape 18"/>
          <p:cNvSpPr/>
          <p:nvPr/>
        </p:nvSpPr>
        <p:spPr>
          <a:xfrm>
            <a:off x="6766560" y="1051560"/>
            <a:ext cx="1920240" cy="914400"/>
          </a:xfrm>
          <a:prstGeom prst="rect">
            <a:avLst/>
          </a:prstGeom>
          <a:solidFill>
            <a:srgbClr val="F2F2F2"/>
          </a:solidFill>
          <a:ln w="9525">
            <a:solidFill>
              <a:srgbClr val="BFBFBF"/>
            </a:solidFill>
            <a:prstDash val="solid"/>
          </a:ln>
        </p:spPr>
      </p:sp>
      <p:sp>
        <p:nvSpPr>
          <p:cNvPr id="22" name="Shape 19"/>
          <p:cNvSpPr/>
          <p:nvPr/>
        </p:nvSpPr>
        <p:spPr>
          <a:xfrm>
            <a:off x="6903720" y="1161288"/>
            <a:ext cx="310896" cy="310896"/>
          </a:xfrm>
          <a:prstGeom prst="ellipse">
            <a:avLst/>
          </a:prstGeom>
          <a:solidFill>
            <a:srgbClr val="111111"/>
          </a:solidFill>
          <a:ln w="12700">
            <a:solidFill>
              <a:srgbClr val="111111"/>
            </a:solidFill>
            <a:prstDash val="solid"/>
          </a:ln>
        </p:spPr>
      </p:sp>
      <p:sp>
        <p:nvSpPr>
          <p:cNvPr id="23" name="Text 20"/>
          <p:cNvSpPr txBox="1"/>
          <p:nvPr/>
        </p:nvSpPr>
        <p:spPr>
          <a:xfrm>
            <a:off x="6903720" y="11612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1"/>
          <p:cNvSpPr txBox="1"/>
          <p:nvPr/>
        </p:nvSpPr>
        <p:spPr>
          <a:xfrm>
            <a:off x="7315200" y="1161288"/>
            <a:ext cx="1234440" cy="310896"/>
          </a:xfrm>
          <a:prstGeom prst="rect">
            <a:avLst/>
          </a:prstGeom>
          <a:noFill/>
          <a:ln/>
        </p:spPr>
        <p:txBody>
          <a:bodyPr wrap="square" lIns="0" tIns="0" rIns="0" bIns="0" rtlCol="0" anchor="ctr"/>
          <a:lstStyle/>
          <a:p>
            <a:pPr indent="0" marL="0">
              <a:buNone/>
            </a:pPr>
            <a:r>
              <a:rPr lang="en-US" sz="1500" b="1" dirty="0">
                <a:solidFill>
                  <a:srgbClr val="111111"/>
                </a:solidFill>
                <a:latin typeface="Cambria" pitchFamily="34" charset="0"/>
                <a:ea typeface="Cambria" pitchFamily="34" charset="-122"/>
                <a:cs typeface="Cambria" pitchFamily="34" charset="-120"/>
              </a:rPr>
              <a:t>Receive</a:t>
            </a:r>
            <a:endParaRPr lang="en-US" sz="1500" dirty="0"/>
          </a:p>
        </p:txBody>
      </p:sp>
      <p:sp>
        <p:nvSpPr>
          <p:cNvPr id="25" name="Text 22"/>
          <p:cNvSpPr txBox="1"/>
          <p:nvPr/>
        </p:nvSpPr>
        <p:spPr>
          <a:xfrm>
            <a:off x="6903720" y="1554480"/>
            <a:ext cx="1645920" cy="365760"/>
          </a:xfrm>
          <a:prstGeom prst="rect">
            <a:avLst/>
          </a:prstGeom>
          <a:noFill/>
          <a:ln/>
        </p:spPr>
        <p:txBody>
          <a:bodyPr wrap="square" lIns="0" tIns="0" rIns="0" bIns="0" rtlCol="0" anchor="t"/>
          <a:lstStyle/>
          <a:p>
            <a:pPr indent="0" marL="0">
              <a:buNone/>
            </a:pPr>
            <a:r>
              <a:rPr lang="en-US" sz="1200" dirty="0">
                <a:solidFill>
                  <a:srgbClr val="111111"/>
                </a:solidFill>
                <a:latin typeface="Calibri" pitchFamily="34" charset="0"/>
                <a:ea typeface="Calibri" pitchFamily="34" charset="-122"/>
                <a:cs typeface="Calibri" pitchFamily="34" charset="-120"/>
              </a:rPr>
              <a:t>Server receives detections and heartbeats</a:t>
            </a:r>
            <a:endParaRPr lang="en-US" sz="1200" dirty="0"/>
          </a:p>
        </p:txBody>
      </p:sp>
      <p:sp>
        <p:nvSpPr>
          <p:cNvPr id="26" name="Text 23"/>
          <p:cNvSpPr txBox="1"/>
          <p:nvPr/>
        </p:nvSpPr>
        <p:spPr>
          <a:xfrm>
            <a:off x="457200" y="2194560"/>
            <a:ext cx="1463040" cy="347472"/>
          </a:xfrm>
          <a:prstGeom prst="rect">
            <a:avLst/>
          </a:prstGeom>
          <a:solidFill>
            <a:srgbClr val="111111"/>
          </a:solidFill>
          <a:ln>
            <a:solidFill>
              <a:srgbClr val="111111"/>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range</a:t>
            </a:r>
            <a:endParaRPr lang="en-US" sz="1200" dirty="0"/>
          </a:p>
        </p:txBody>
      </p:sp>
      <p:sp>
        <p:nvSpPr>
          <p:cNvPr id="27" name="Text 24"/>
          <p:cNvSpPr txBox="1"/>
          <p:nvPr/>
        </p:nvSpPr>
        <p:spPr>
          <a:xfrm>
            <a:off x="1920240" y="2194560"/>
            <a:ext cx="6766560" cy="347472"/>
          </a:xfrm>
          <a:prstGeom prst="rect">
            <a:avLst/>
          </a:prstGeom>
          <a:solidFill>
            <a:srgbClr val="FFFFFF"/>
          </a:solidFill>
          <a:ln w="9525">
            <a:solidFill>
              <a:srgbClr val="BFBFBF"/>
            </a:solidFill>
          </a:ln>
        </p:spPr>
        <p:txBody>
          <a:bodyPr wrap="square" lIns="101600" tIns="101600" rIns="101600" bIns="1016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detections from EACH node within a 30 s window</a:t>
            </a:r>
            <a:endParaRPr lang="en-US" sz="1300" dirty="0"/>
          </a:p>
        </p:txBody>
      </p:sp>
      <p:sp>
        <p:nvSpPr>
          <p:cNvPr id="28" name="Text 25"/>
          <p:cNvSpPr txBox="1"/>
          <p:nvPr/>
        </p:nvSpPr>
        <p:spPr>
          <a:xfrm>
            <a:off x="457200" y="2587752"/>
            <a:ext cx="1463040" cy="347472"/>
          </a:xfrm>
          <a:prstGeom prst="rect">
            <a:avLst/>
          </a:prstGeom>
          <a:solidFill>
            <a:srgbClr val="111111"/>
          </a:solidFill>
          <a:ln>
            <a:solidFill>
              <a:srgbClr val="111111"/>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Periodic check</a:t>
            </a:r>
            <a:endParaRPr lang="en-US" sz="1200" dirty="0"/>
          </a:p>
        </p:txBody>
      </p:sp>
      <p:sp>
        <p:nvSpPr>
          <p:cNvPr id="29" name="Text 26"/>
          <p:cNvSpPr txBox="1"/>
          <p:nvPr/>
        </p:nvSpPr>
        <p:spPr>
          <a:xfrm>
            <a:off x="1920240" y="2587752"/>
            <a:ext cx="6766560" cy="347472"/>
          </a:xfrm>
          <a:prstGeom prst="rect">
            <a:avLst/>
          </a:prstGeom>
          <a:solidFill>
            <a:srgbClr val="FFFFFF"/>
          </a:solidFill>
          <a:ln w="9525">
            <a:solidFill>
              <a:srgbClr val="BFBFBF"/>
            </a:solidFill>
          </a:ln>
        </p:spPr>
        <p:txBody>
          <a:bodyPr wrap="square" lIns="101600" tIns="101600" rIns="101600" bIns="1016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Server re-checks every 10 s throughout the class</a:t>
            </a:r>
            <a:endParaRPr lang="en-US" sz="1300" dirty="0"/>
          </a:p>
        </p:txBody>
      </p:sp>
      <p:sp>
        <p:nvSpPr>
          <p:cNvPr id="30" name="Text 27"/>
          <p:cNvSpPr txBox="1"/>
          <p:nvPr/>
        </p:nvSpPr>
        <p:spPr>
          <a:xfrm>
            <a:off x="457200" y="2980944"/>
            <a:ext cx="1463040" cy="347472"/>
          </a:xfrm>
          <a:prstGeom prst="rect">
            <a:avLst/>
          </a:prstGeom>
          <a:solidFill>
            <a:srgbClr val="111111"/>
          </a:solidFill>
          <a:ln>
            <a:solidFill>
              <a:srgbClr val="111111"/>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Tolerance</a:t>
            </a:r>
            <a:endParaRPr lang="en-US" sz="1200" dirty="0"/>
          </a:p>
        </p:txBody>
      </p:sp>
      <p:sp>
        <p:nvSpPr>
          <p:cNvPr id="31" name="Text 28"/>
          <p:cNvSpPr txBox="1"/>
          <p:nvPr/>
        </p:nvSpPr>
        <p:spPr>
          <a:xfrm>
            <a:off x="1920240" y="2980944"/>
            <a:ext cx="6766560" cy="347472"/>
          </a:xfrm>
          <a:prstGeom prst="rect">
            <a:avLst/>
          </a:prstGeom>
          <a:solidFill>
            <a:srgbClr val="FFFFFF"/>
          </a:solidFill>
          <a:ln w="9525">
            <a:solidFill>
              <a:srgbClr val="BFBFBF"/>
            </a:solidFill>
          </a:ln>
        </p:spPr>
        <p:txBody>
          <a:bodyPr wrap="square" lIns="101600" tIns="101600" rIns="101600" bIns="1016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single missed check is tolerated</a:t>
            </a:r>
            <a:endParaRPr lang="en-US" sz="1300" dirty="0"/>
          </a:p>
        </p:txBody>
      </p:sp>
      <p:sp>
        <p:nvSpPr>
          <p:cNvPr id="32" name="Text 29"/>
          <p:cNvSpPr txBox="1"/>
          <p:nvPr/>
        </p:nvSpPr>
        <p:spPr>
          <a:xfrm>
            <a:off x="457200" y="3374136"/>
            <a:ext cx="1463040" cy="347472"/>
          </a:xfrm>
          <a:prstGeom prst="rect">
            <a:avLst/>
          </a:prstGeom>
          <a:solidFill>
            <a:srgbClr val="111111"/>
          </a:solidFill>
          <a:ln>
            <a:solidFill>
              <a:srgbClr val="111111"/>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Left class</a:t>
            </a:r>
            <a:endParaRPr lang="en-US" sz="1200" dirty="0"/>
          </a:p>
        </p:txBody>
      </p:sp>
      <p:sp>
        <p:nvSpPr>
          <p:cNvPr id="33" name="Text 30"/>
          <p:cNvSpPr txBox="1"/>
          <p:nvPr/>
        </p:nvSpPr>
        <p:spPr>
          <a:xfrm>
            <a:off x="1920240" y="3374136"/>
            <a:ext cx="6766560" cy="347472"/>
          </a:xfrm>
          <a:prstGeom prst="rect">
            <a:avLst/>
          </a:prstGeom>
          <a:solidFill>
            <a:srgbClr val="FFFFFF"/>
          </a:solidFill>
          <a:ln w="9525">
            <a:solidFill>
              <a:srgbClr val="BFBFBF"/>
            </a:solidFill>
          </a:ln>
        </p:spPr>
        <p:txBody>
          <a:bodyPr wrap="square" lIns="101600" tIns="101600" rIns="101600" bIns="1016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No valid evidence for 30 s in a row → considered absent</a:t>
            </a:r>
            <a:endParaRPr lang="en-US" sz="1300" dirty="0"/>
          </a:p>
        </p:txBody>
      </p:sp>
      <p:sp>
        <p:nvSpPr>
          <p:cNvPr id="34" name="Text 31"/>
          <p:cNvSpPr txBox="1"/>
          <p:nvPr/>
        </p:nvSpPr>
        <p:spPr>
          <a:xfrm>
            <a:off x="457200" y="3767328"/>
            <a:ext cx="1463040" cy="347472"/>
          </a:xfrm>
          <a:prstGeom prst="rect">
            <a:avLst/>
          </a:prstGeom>
          <a:solidFill>
            <a:srgbClr val="111111"/>
          </a:solidFill>
          <a:ln>
            <a:solidFill>
              <a:srgbClr val="111111"/>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Final result</a:t>
            </a:r>
            <a:endParaRPr lang="en-US" sz="1200" dirty="0"/>
          </a:p>
        </p:txBody>
      </p:sp>
      <p:sp>
        <p:nvSpPr>
          <p:cNvPr id="35" name="Text 32"/>
          <p:cNvSpPr txBox="1"/>
          <p:nvPr/>
        </p:nvSpPr>
        <p:spPr>
          <a:xfrm>
            <a:off x="1920240" y="3767328"/>
            <a:ext cx="6766560" cy="347472"/>
          </a:xfrm>
          <a:prstGeom prst="rect">
            <a:avLst/>
          </a:prstGeom>
          <a:solidFill>
            <a:srgbClr val="FFFFFF"/>
          </a:solidFill>
          <a:ln w="9525">
            <a:solidFill>
              <a:srgbClr val="BFBFBF"/>
            </a:solidFill>
          </a:ln>
        </p:spPr>
        <p:txBody>
          <a:bodyPr wrap="square" lIns="101600" tIns="101600" rIns="101600" bIns="1016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PRESENT if ≥75% of counted checks are in range</a:t>
            </a:r>
            <a:endParaRPr lang="en-US" sz="1300" dirty="0"/>
          </a:p>
        </p:txBody>
      </p:sp>
      <p:sp>
        <p:nvSpPr>
          <p:cNvPr id="36" name="Text 33"/>
          <p:cNvSpPr txBox="1"/>
          <p:nvPr/>
        </p:nvSpPr>
        <p:spPr>
          <a:xfrm>
            <a:off x="457200" y="4160520"/>
            <a:ext cx="1463040" cy="347472"/>
          </a:xfrm>
          <a:prstGeom prst="rect">
            <a:avLst/>
          </a:prstGeom>
          <a:solidFill>
            <a:srgbClr val="595959"/>
          </a:solidFill>
          <a:ln>
            <a:solidFill>
              <a:srgbClr val="595959"/>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Node failure</a:t>
            </a:r>
            <a:endParaRPr lang="en-US" sz="1200" dirty="0"/>
          </a:p>
        </p:txBody>
      </p:sp>
      <p:sp>
        <p:nvSpPr>
          <p:cNvPr id="37" name="Text 34"/>
          <p:cNvSpPr txBox="1"/>
          <p:nvPr/>
        </p:nvSpPr>
        <p:spPr>
          <a:xfrm>
            <a:off x="1920240" y="4160520"/>
            <a:ext cx="6766560" cy="347472"/>
          </a:xfrm>
          <a:prstGeom prst="rect">
            <a:avLst/>
          </a:prstGeom>
          <a:solidFill>
            <a:srgbClr val="FFFFFF"/>
          </a:solidFill>
          <a:ln w="9525">
            <a:solidFill>
              <a:srgbClr val="BFBFBF"/>
            </a:solidFill>
          </a:ln>
        </p:spPr>
        <p:txBody>
          <a:bodyPr wrap="square" lIns="101600" tIns="101600" rIns="101600" bIns="1016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Stale node heartbeat → check skipped, not counted against students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Implementation Summary</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 / 8</a:t>
            </a:r>
            <a:endParaRPr lang="en-US" sz="900" dirty="0"/>
          </a:p>
        </p:txBody>
      </p:sp>
      <p:sp>
        <p:nvSpPr>
          <p:cNvPr id="6" name="Shape 3"/>
          <p:cNvSpPr/>
          <p:nvPr/>
        </p:nvSpPr>
        <p:spPr>
          <a:xfrm>
            <a:off x="457200" y="1188720"/>
            <a:ext cx="2651760" cy="2788920"/>
          </a:xfrm>
          <a:prstGeom prst="rect">
            <a:avLst/>
          </a:prstGeom>
          <a:solidFill>
            <a:srgbClr val="FFFFFF"/>
          </a:solidFill>
          <a:ln w="12700">
            <a:solidFill>
              <a:srgbClr val="111111"/>
            </a:solidFill>
            <a:prstDash val="solid"/>
          </a:ln>
        </p:spPr>
      </p:sp>
      <p:sp>
        <p:nvSpPr>
          <p:cNvPr id="7" name="Shape 4"/>
          <p:cNvSpPr/>
          <p:nvPr/>
        </p:nvSpPr>
        <p:spPr>
          <a:xfrm>
            <a:off x="640080" y="1353312"/>
            <a:ext cx="411480" cy="41148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742950" y="1456182"/>
            <a:ext cx="205740" cy="205740"/>
          </a:xfrm>
          <a:prstGeom prst="rect">
            <a:avLst/>
          </a:prstGeom>
        </p:spPr>
      </p:pic>
      <p:sp>
        <p:nvSpPr>
          <p:cNvPr id="9" name="Text 5"/>
          <p:cNvSpPr txBox="1"/>
          <p:nvPr/>
        </p:nvSpPr>
        <p:spPr>
          <a:xfrm>
            <a:off x="1188720" y="1335024"/>
            <a:ext cx="1783080" cy="292608"/>
          </a:xfrm>
          <a:prstGeom prst="rect">
            <a:avLst/>
          </a:prstGeom>
          <a:noFill/>
          <a:ln/>
        </p:spPr>
        <p:txBody>
          <a:bodyPr wrap="square" lIns="0" tIns="0" rIns="0" bIns="0" rtlCol="0" anchor="ctr"/>
          <a:lstStyle/>
          <a:p>
            <a:pPr indent="0" marL="0">
              <a:buNone/>
            </a:pPr>
            <a:r>
              <a:rPr lang="en-US" sz="1700" b="1" dirty="0">
                <a:solidFill>
                  <a:srgbClr val="111111"/>
                </a:solidFill>
                <a:latin typeface="Cambria" pitchFamily="34" charset="0"/>
                <a:ea typeface="Cambria" pitchFamily="34" charset="-122"/>
                <a:cs typeface="Cambria" pitchFamily="34" charset="-120"/>
              </a:rPr>
              <a:t>ESP32 Nodes</a:t>
            </a:r>
            <a:endParaRPr lang="en-US" sz="1700" dirty="0"/>
          </a:p>
        </p:txBody>
      </p:sp>
      <p:sp>
        <p:nvSpPr>
          <p:cNvPr id="10" name="Text 6"/>
          <p:cNvSpPr txBox="1"/>
          <p:nvPr/>
        </p:nvSpPr>
        <p:spPr>
          <a:xfrm>
            <a:off x="1188720" y="1627632"/>
            <a:ext cx="1828800" cy="18288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Architecture: Slide 3  |  Stack: Slide 4</a:t>
            </a:r>
            <a:endParaRPr lang="en-US" sz="900" dirty="0"/>
          </a:p>
        </p:txBody>
      </p:sp>
      <p:sp>
        <p:nvSpPr>
          <p:cNvPr id="11" name="Text 7"/>
          <p:cNvSpPr txBox="1"/>
          <p:nvPr/>
        </p:nvSpPr>
        <p:spPr>
          <a:xfrm>
            <a:off x="640080" y="2011680"/>
            <a:ext cx="2286000" cy="18288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Two nodes scan BLE advertisements continuously</a:t>
            </a:r>
            <a:endParaRPr lang="en-US" sz="1300" dirty="0"/>
          </a:p>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Registered phones detected by both nodes</a:t>
            </a:r>
            <a:endParaRPr lang="en-US" sz="1300" dirty="0"/>
          </a:p>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Report name, MAC, RSSI and a periodic heartbeat</a:t>
            </a:r>
            <a:endParaRPr lang="en-US" sz="1300" dirty="0"/>
          </a:p>
        </p:txBody>
      </p:sp>
      <p:sp>
        <p:nvSpPr>
          <p:cNvPr id="12" name="Shape 8"/>
          <p:cNvSpPr/>
          <p:nvPr/>
        </p:nvSpPr>
        <p:spPr>
          <a:xfrm>
            <a:off x="3246120" y="1188720"/>
            <a:ext cx="2651760" cy="2788920"/>
          </a:xfrm>
          <a:prstGeom prst="rect">
            <a:avLst/>
          </a:prstGeom>
          <a:solidFill>
            <a:srgbClr val="F2F2F2"/>
          </a:solidFill>
          <a:ln w="12700">
            <a:solidFill>
              <a:srgbClr val="111111"/>
            </a:solidFill>
            <a:prstDash val="solid"/>
          </a:ln>
        </p:spPr>
      </p:sp>
      <p:sp>
        <p:nvSpPr>
          <p:cNvPr id="13" name="Shape 9"/>
          <p:cNvSpPr/>
          <p:nvPr/>
        </p:nvSpPr>
        <p:spPr>
          <a:xfrm>
            <a:off x="3429000" y="1353312"/>
            <a:ext cx="411480" cy="411480"/>
          </a:xfrm>
          <a:prstGeom prst="ellipse">
            <a:avLst/>
          </a:prstGeom>
          <a:solidFill>
            <a:srgbClr val="111111"/>
          </a:solidFill>
          <a:ln w="12700">
            <a:solidFill>
              <a:srgbClr val="111111"/>
            </a:solidFill>
            <a:prstDash val="solid"/>
          </a:ln>
        </p:spPr>
      </p:sp>
      <p:pic>
        <p:nvPicPr>
          <p:cNvPr id="14" name="Image 1" descr="preencoded.png">    </p:cNvPr>
          <p:cNvPicPr>
            <a:picLocks noChangeAspect="1"/>
          </p:cNvPicPr>
          <p:nvPr/>
        </p:nvPicPr>
        <p:blipFill>
          <a:blip r:embed="rId2"/>
          <a:stretch>
            <a:fillRect/>
          </a:stretch>
        </p:blipFill>
        <p:spPr>
          <a:xfrm>
            <a:off x="3531870" y="1456182"/>
            <a:ext cx="205740" cy="205740"/>
          </a:xfrm>
          <a:prstGeom prst="rect">
            <a:avLst/>
          </a:prstGeom>
        </p:spPr>
      </p:pic>
      <p:sp>
        <p:nvSpPr>
          <p:cNvPr id="15" name="Text 10"/>
          <p:cNvSpPr txBox="1"/>
          <p:nvPr/>
        </p:nvSpPr>
        <p:spPr>
          <a:xfrm>
            <a:off x="3977640" y="1335024"/>
            <a:ext cx="1783080" cy="292608"/>
          </a:xfrm>
          <a:prstGeom prst="rect">
            <a:avLst/>
          </a:prstGeom>
          <a:noFill/>
          <a:ln/>
        </p:spPr>
        <p:txBody>
          <a:bodyPr wrap="square" lIns="0" tIns="0" rIns="0" bIns="0" rtlCol="0" anchor="ctr"/>
          <a:lstStyle/>
          <a:p>
            <a:pPr indent="0" marL="0">
              <a:buNone/>
            </a:pPr>
            <a:r>
              <a:rPr lang="en-US" sz="1700" b="1" dirty="0">
                <a:solidFill>
                  <a:srgbClr val="111111"/>
                </a:solidFill>
                <a:latin typeface="Cambria" pitchFamily="34" charset="0"/>
                <a:ea typeface="Cambria" pitchFamily="34" charset="-122"/>
                <a:cs typeface="Cambria" pitchFamily="34" charset="-120"/>
              </a:rPr>
              <a:t>Flask Server</a:t>
            </a:r>
            <a:endParaRPr lang="en-US" sz="1700" dirty="0"/>
          </a:p>
        </p:txBody>
      </p:sp>
      <p:sp>
        <p:nvSpPr>
          <p:cNvPr id="16" name="Text 11"/>
          <p:cNvSpPr txBox="1"/>
          <p:nvPr/>
        </p:nvSpPr>
        <p:spPr>
          <a:xfrm>
            <a:off x="3977640" y="1627632"/>
            <a:ext cx="1828800" cy="18288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Rules: Slide 5</a:t>
            </a:r>
            <a:endParaRPr lang="en-US" sz="900" dirty="0"/>
          </a:p>
        </p:txBody>
      </p:sp>
      <p:sp>
        <p:nvSpPr>
          <p:cNvPr id="17" name="Text 12"/>
          <p:cNvSpPr txBox="1"/>
          <p:nvPr/>
        </p:nvSpPr>
        <p:spPr>
          <a:xfrm>
            <a:off x="3429000" y="2011680"/>
            <a:ext cx="2286000" cy="18288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Combines observations from both nodes</a:t>
            </a:r>
            <a:endParaRPr lang="en-US" sz="1300" dirty="0"/>
          </a:p>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Presence check every 10 s (≥3 detections per node in 30 s)</a:t>
            </a:r>
            <a:endParaRPr lang="en-US" sz="1300" dirty="0"/>
          </a:p>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Stale node heartbeat → check skipped</a:t>
            </a:r>
            <a:endParaRPr lang="en-US" sz="1300" dirty="0"/>
          </a:p>
        </p:txBody>
      </p:sp>
      <p:sp>
        <p:nvSpPr>
          <p:cNvPr id="18" name="Shape 13"/>
          <p:cNvSpPr/>
          <p:nvPr/>
        </p:nvSpPr>
        <p:spPr>
          <a:xfrm>
            <a:off x="6035040" y="1188720"/>
            <a:ext cx="2651760" cy="2788920"/>
          </a:xfrm>
          <a:prstGeom prst="rect">
            <a:avLst/>
          </a:prstGeom>
          <a:solidFill>
            <a:srgbClr val="FFFFFF"/>
          </a:solidFill>
          <a:ln w="12700">
            <a:solidFill>
              <a:srgbClr val="111111"/>
            </a:solidFill>
            <a:prstDash val="solid"/>
          </a:ln>
        </p:spPr>
      </p:sp>
      <p:sp>
        <p:nvSpPr>
          <p:cNvPr id="19" name="Shape 14"/>
          <p:cNvSpPr/>
          <p:nvPr/>
        </p:nvSpPr>
        <p:spPr>
          <a:xfrm>
            <a:off x="6217920" y="1353312"/>
            <a:ext cx="411480" cy="411480"/>
          </a:xfrm>
          <a:prstGeom prst="ellipse">
            <a:avLst/>
          </a:prstGeom>
          <a:solidFill>
            <a:srgbClr val="111111"/>
          </a:solidFill>
          <a:ln w="12700">
            <a:solidFill>
              <a:srgbClr val="111111"/>
            </a:solidFill>
            <a:prstDash val="solid"/>
          </a:ln>
        </p:spPr>
      </p:sp>
      <p:pic>
        <p:nvPicPr>
          <p:cNvPr id="20" name="Image 2" descr="preencoded.png">    </p:cNvPr>
          <p:cNvPicPr>
            <a:picLocks noChangeAspect="1"/>
          </p:cNvPicPr>
          <p:nvPr/>
        </p:nvPicPr>
        <p:blipFill>
          <a:blip r:embed="rId3"/>
          <a:stretch>
            <a:fillRect/>
          </a:stretch>
        </p:blipFill>
        <p:spPr>
          <a:xfrm>
            <a:off x="6320790" y="1456182"/>
            <a:ext cx="205740" cy="205740"/>
          </a:xfrm>
          <a:prstGeom prst="rect">
            <a:avLst/>
          </a:prstGeom>
        </p:spPr>
      </p:pic>
      <p:sp>
        <p:nvSpPr>
          <p:cNvPr id="21" name="Text 15"/>
          <p:cNvSpPr txBox="1"/>
          <p:nvPr/>
        </p:nvSpPr>
        <p:spPr>
          <a:xfrm>
            <a:off x="6766560" y="1335024"/>
            <a:ext cx="1783080" cy="292608"/>
          </a:xfrm>
          <a:prstGeom prst="rect">
            <a:avLst/>
          </a:prstGeom>
          <a:noFill/>
          <a:ln/>
        </p:spPr>
        <p:txBody>
          <a:bodyPr wrap="square" lIns="0" tIns="0" rIns="0" bIns="0" rtlCol="0" anchor="ctr"/>
          <a:lstStyle/>
          <a:p>
            <a:pPr indent="0" marL="0">
              <a:buNone/>
            </a:pPr>
            <a:r>
              <a:rPr lang="en-US" sz="1700" b="1" dirty="0">
                <a:solidFill>
                  <a:srgbClr val="111111"/>
                </a:solidFill>
                <a:latin typeface="Cambria" pitchFamily="34" charset="0"/>
                <a:ea typeface="Cambria" pitchFamily="34" charset="-122"/>
                <a:cs typeface="Cambria" pitchFamily="34" charset="-120"/>
              </a:rPr>
              <a:t>Outputs</a:t>
            </a:r>
            <a:endParaRPr lang="en-US" sz="1700" dirty="0"/>
          </a:p>
        </p:txBody>
      </p:sp>
      <p:sp>
        <p:nvSpPr>
          <p:cNvPr id="22" name="Text 16"/>
          <p:cNvSpPr txBox="1"/>
          <p:nvPr/>
        </p:nvSpPr>
        <p:spPr>
          <a:xfrm>
            <a:off x="6766560" y="1627632"/>
            <a:ext cx="1828800" cy="18288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Results: Slide 7</a:t>
            </a:r>
            <a:endParaRPr lang="en-US" sz="900" dirty="0"/>
          </a:p>
        </p:txBody>
      </p:sp>
      <p:sp>
        <p:nvSpPr>
          <p:cNvPr id="23" name="Text 17"/>
          <p:cNvSpPr txBox="1"/>
          <p:nvPr/>
        </p:nvSpPr>
        <p:spPr>
          <a:xfrm>
            <a:off x="6217920" y="2011680"/>
            <a:ext cx="2286000" cy="18288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Live dashboard: node health, student state, detection counts, RSSI</a:t>
            </a:r>
            <a:endParaRPr lang="en-US" sz="1300" dirty="0"/>
          </a:p>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Attendance and evidence saved to CSV</a:t>
            </a:r>
            <a:endParaRPr lang="en-US" sz="1300" dirty="0"/>
          </a:p>
          <a:p>
            <a:pPr marL="177800" indent="-177800">
              <a:spcAft>
                <a:spcPts val="900"/>
              </a:spcAft>
              <a:buSzPct val="100000"/>
              <a:buChar char="•"/>
            </a:pPr>
            <a:r>
              <a:rPr lang="en-US" sz="1300" dirty="0">
                <a:solidFill>
                  <a:srgbClr val="111111"/>
                </a:solidFill>
                <a:latin typeface="Calibri" pitchFamily="34" charset="0"/>
                <a:ea typeface="Calibri" pitchFamily="34" charset="-122"/>
                <a:cs typeface="Calibri" pitchFamily="34" charset="-120"/>
              </a:rPr>
              <a:t>RSSI is display-only, not an attendance threshold</a:t>
            </a:r>
            <a:endParaRPr lang="en-US" sz="1300" dirty="0"/>
          </a:p>
        </p:txBody>
      </p:sp>
      <p:sp>
        <p:nvSpPr>
          <p:cNvPr id="24" name="Text 18"/>
          <p:cNvSpPr txBox="1"/>
          <p:nvPr/>
        </p:nvSpPr>
        <p:spPr>
          <a:xfrm>
            <a:off x="457200" y="4160520"/>
            <a:ext cx="8229600" cy="457200"/>
          </a:xfrm>
          <a:prstGeom prst="rect">
            <a:avLst/>
          </a:prstGeom>
          <a:solidFill>
            <a:srgbClr val="111111"/>
          </a:solidFill>
          <a:ln>
            <a:solidFill>
              <a:srgbClr val="111111"/>
            </a:solidFill>
          </a:ln>
        </p:spPr>
        <p:txBody>
          <a:bodyPr wrap="square" lIns="127000" tIns="127000" rIns="127000" bIns="1270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Tested: both nodes detect registered devices and attendance is recorded. Test cases and results on Slide 7.</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Results &amp; Testing</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 / 8</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029200" cy="914400"/>
        </p:xfrm>
        <a:graphic>
          <a:graphicData uri="http://schemas.openxmlformats.org/drawingml/2006/table">
            <a:tbl>
              <a:tblPr/>
              <a:tblGrid>
                <a:gridCol w="1920240"/>
                <a:gridCol w="310896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Case</a:t>
                      </a:r>
                      <a:endParaRPr lang="en-US" sz="130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1111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System Behaviour</a:t>
                      </a:r>
                      <a:endParaRPr lang="en-US" sz="130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11111"/>
                    </a:solidFill>
                  </a:tcPr>
                </a:tc>
              </a:tr>
              <a:tr h="420624">
                <a:tc>
                  <a:txBody>
                    <a:bodyPr/>
                    <a:lstStyle/>
                    <a:p>
                      <a:pPr indent="0" marL="0">
                        <a:buNone/>
                      </a:pPr>
                      <a:r>
                        <a:rPr lang="en-US" sz="1250" b="1" dirty="0">
                          <a:solidFill>
                            <a:srgbClr val="111111"/>
                          </a:solidFill>
                          <a:latin typeface="Calibri" pitchFamily="34" charset="0"/>
                          <a:ea typeface="Calibri" pitchFamily="34" charset="-122"/>
                          <a:cs typeface="Calibri" pitchFamily="34" charset="-120"/>
                        </a:rPr>
                        <a:t>Student enters</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Detected by both nodes → Present</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11111"/>
                          </a:solidFill>
                          <a:latin typeface="Calibri" pitchFamily="34" charset="0"/>
                          <a:ea typeface="Calibri" pitchFamily="34" charset="-122"/>
                          <a:cs typeface="Calibri" pitchFamily="34" charset="-120"/>
                        </a:rPr>
                        <a:t>Temporary missed scan</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Not immediately marked absent</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r>
              <a:tr h="420624">
                <a:tc>
                  <a:txBody>
                    <a:bodyPr/>
                    <a:lstStyle/>
                    <a:p>
                      <a:pPr indent="0" marL="0">
                        <a:buNone/>
                      </a:pPr>
                      <a:r>
                        <a:rPr lang="en-US" sz="1250" b="1" dirty="0">
                          <a:solidFill>
                            <a:srgbClr val="111111"/>
                          </a:solidFill>
                          <a:latin typeface="Calibri" pitchFamily="34" charset="0"/>
                          <a:ea typeface="Calibri" pitchFamily="34" charset="-122"/>
                          <a:cs typeface="Calibri" pitchFamily="34" charset="-120"/>
                        </a:rPr>
                        <a:t>Student leaves</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Continuous absence detected</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11111"/>
                          </a:solidFill>
                          <a:latin typeface="Calibri" pitchFamily="34" charset="0"/>
                          <a:ea typeface="Calibri" pitchFamily="34" charset="-122"/>
                          <a:cs typeface="Calibri" pitchFamily="34" charset="-120"/>
                        </a:rPr>
                        <a:t>Node offline</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Attendance checks paused</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r>
              <a:tr h="420624">
                <a:tc>
                  <a:txBody>
                    <a:bodyPr/>
                    <a:lstStyle/>
                    <a:p>
                      <a:pPr indent="0" marL="0">
                        <a:buNone/>
                      </a:pPr>
                      <a:r>
                        <a:rPr lang="en-US" sz="1250" b="1" dirty="0">
                          <a:solidFill>
                            <a:srgbClr val="111111"/>
                          </a:solidFill>
                          <a:latin typeface="Calibri" pitchFamily="34" charset="0"/>
                          <a:ea typeface="Calibri" pitchFamily="34" charset="-122"/>
                          <a:cs typeface="Calibri" pitchFamily="34" charset="-120"/>
                        </a:rPr>
                        <a:t>Both nodes active</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Presence verification performed</a:t>
                      </a:r>
                      <a:endParaRPr lang="en-US" sz="1250" dirty="0">
                        <a:latin typeface="Calibri" charset="0"/>
                        <a:ea typeface="Calibri" charset="0"/>
                        <a:cs typeface="Calibri" charset="0"/>
                      </a:endParaRPr>
                    </a:p>
                  </a:txBody>
                  <a:tcPr marL="109728" marR="109728"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715000" y="1143000"/>
            <a:ext cx="2971800" cy="274320"/>
          </a:xfrm>
          <a:prstGeom prst="rect">
            <a:avLst/>
          </a:prstGeom>
          <a:noFill/>
          <a:ln/>
        </p:spPr>
        <p:txBody>
          <a:bodyPr wrap="square" lIns="0" tIns="0" rIns="0" bIns="0" rtlCol="0" anchor="ctr"/>
          <a:lstStyle/>
          <a:p>
            <a:pPr indent="0" marL="0">
              <a:buNone/>
            </a:pPr>
            <a:r>
              <a:rPr lang="en-US" sz="1400" b="1" dirty="0">
                <a:solidFill>
                  <a:srgbClr val="111111"/>
                </a:solidFill>
                <a:latin typeface="Cambria" pitchFamily="34" charset="0"/>
                <a:ea typeface="Cambria" pitchFamily="34" charset="-122"/>
                <a:cs typeface="Cambria" pitchFamily="34" charset="-120"/>
              </a:rPr>
              <a:t>Recorded attendance results</a:t>
            </a:r>
            <a:endParaRPr lang="en-US" sz="1400" dirty="0"/>
          </a:p>
        </p:txBody>
      </p:sp>
      <p:sp>
        <p:nvSpPr>
          <p:cNvPr id="8" name="Text 4"/>
          <p:cNvSpPr txBox="1"/>
          <p:nvPr/>
        </p:nvSpPr>
        <p:spPr>
          <a:xfrm>
            <a:off x="5715000" y="1508760"/>
            <a:ext cx="2971800" cy="585216"/>
          </a:xfrm>
          <a:prstGeom prst="rect">
            <a:avLst/>
          </a:prstGeom>
          <a:solidFill>
            <a:srgbClr val="111111"/>
          </a:solidFill>
          <a:ln w="9525">
            <a:solidFill>
              <a:srgbClr val="111111"/>
            </a:solidFill>
          </a:ln>
        </p:spPr>
        <p:txBody>
          <a:bodyPr wrap="square" lIns="101600" tIns="101600" rIns="101600" bIns="10160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Kavin — 85.7% → PRESENT</a:t>
            </a:r>
            <a:endParaRPr lang="en-US" sz="1250" dirty="0"/>
          </a:p>
          <a:p>
            <a:pPr algn="l" indent="0" marL="0">
              <a:buNone/>
            </a:pPr>
            <a:r>
              <a:rPr lang="en-US" sz="1050" dirty="0">
                <a:solidFill>
                  <a:srgbClr val="D9D9D9"/>
                </a:solidFill>
                <a:latin typeface="Calibri" pitchFamily="34" charset="0"/>
                <a:ea typeface="Calibri" pitchFamily="34" charset="-122"/>
                <a:cs typeface="Calibri" pitchFamily="34" charset="-120"/>
              </a:rPr>
              <a:t>Longest absence 0 s</a:t>
            </a:r>
            <a:endParaRPr lang="en-US" sz="1250" dirty="0"/>
          </a:p>
        </p:txBody>
      </p:sp>
      <p:sp>
        <p:nvSpPr>
          <p:cNvPr id="9" name="Text 5"/>
          <p:cNvSpPr txBox="1"/>
          <p:nvPr/>
        </p:nvSpPr>
        <p:spPr>
          <a:xfrm>
            <a:off x="5715000" y="2167128"/>
            <a:ext cx="2971800" cy="585216"/>
          </a:xfrm>
          <a:prstGeom prst="rect">
            <a:avLst/>
          </a:prstGeom>
          <a:solidFill>
            <a:srgbClr val="F2F2F2"/>
          </a:solidFill>
          <a:ln w="9525">
            <a:solidFill>
              <a:srgbClr val="BFBFBF"/>
            </a:solidFill>
          </a:ln>
        </p:spPr>
        <p:txBody>
          <a:bodyPr wrap="square" lIns="101600" tIns="101600" rIns="101600" bIns="101600" rtlCol="0" anchor="ctr"/>
          <a:lstStyle/>
          <a:p>
            <a:pPr algn="l" indent="0" marL="0">
              <a:buNone/>
            </a:pPr>
            <a:r>
              <a:rPr lang="en-US" sz="1250" b="1" dirty="0">
                <a:solidFill>
                  <a:srgbClr val="111111"/>
                </a:solidFill>
                <a:latin typeface="Calibri" pitchFamily="34" charset="0"/>
                <a:ea typeface="Calibri" pitchFamily="34" charset="-122"/>
                <a:cs typeface="Calibri" pitchFamily="34" charset="-120"/>
              </a:rPr>
              <a:t>Kavin — 42.9% → ABSENT</a:t>
            </a:r>
            <a:endParaRPr lang="en-US" sz="1250" dirty="0"/>
          </a:p>
          <a:p>
            <a:pPr algn="l" indent="0" marL="0">
              <a:buNone/>
            </a:pPr>
            <a:r>
              <a:rPr lang="en-US" sz="1050" dirty="0">
                <a:solidFill>
                  <a:srgbClr val="4D4D4D"/>
                </a:solidFill>
                <a:latin typeface="Calibri" pitchFamily="34" charset="0"/>
                <a:ea typeface="Calibri" pitchFamily="34" charset="-122"/>
                <a:cs typeface="Calibri" pitchFamily="34" charset="-120"/>
              </a:rPr>
              <a:t>Longest absence 50 s (limit 30 s)</a:t>
            </a:r>
            <a:endParaRPr lang="en-US" sz="1250" dirty="0"/>
          </a:p>
        </p:txBody>
      </p:sp>
      <p:sp>
        <p:nvSpPr>
          <p:cNvPr id="10" name="Text 6"/>
          <p:cNvSpPr txBox="1"/>
          <p:nvPr/>
        </p:nvSpPr>
        <p:spPr>
          <a:xfrm>
            <a:off x="5715000" y="2825496"/>
            <a:ext cx="2971800" cy="585216"/>
          </a:xfrm>
          <a:prstGeom prst="rect">
            <a:avLst/>
          </a:prstGeom>
          <a:solidFill>
            <a:srgbClr val="F2F2F2"/>
          </a:solidFill>
          <a:ln w="9525">
            <a:solidFill>
              <a:srgbClr val="BFBFBF"/>
            </a:solidFill>
          </a:ln>
        </p:spPr>
        <p:txBody>
          <a:bodyPr wrap="square" lIns="101600" tIns="101600" rIns="101600" bIns="101600" rtlCol="0" anchor="ctr"/>
          <a:lstStyle/>
          <a:p>
            <a:pPr algn="l" indent="0" marL="0">
              <a:buNone/>
            </a:pPr>
            <a:r>
              <a:rPr lang="en-US" sz="1250" b="1" dirty="0">
                <a:solidFill>
                  <a:srgbClr val="111111"/>
                </a:solidFill>
                <a:latin typeface="Calibri" pitchFamily="34" charset="0"/>
                <a:ea typeface="Calibri" pitchFamily="34" charset="-122"/>
                <a:cs typeface="Calibri" pitchFamily="34" charset="-120"/>
              </a:rPr>
              <a:t>Lohith — 71.4% → ABSENT</a:t>
            </a:r>
            <a:endParaRPr lang="en-US" sz="1250" dirty="0"/>
          </a:p>
          <a:p>
            <a:pPr algn="l" indent="0" marL="0">
              <a:buNone/>
            </a:pPr>
            <a:r>
              <a:rPr lang="en-US" sz="1050" dirty="0">
                <a:solidFill>
                  <a:srgbClr val="4D4D4D"/>
                </a:solidFill>
                <a:latin typeface="Calibri" pitchFamily="34" charset="0"/>
                <a:ea typeface="Calibri" pitchFamily="34" charset="-122"/>
                <a:cs typeface="Calibri" pitchFamily="34" charset="-120"/>
              </a:rPr>
              <a:t>Below the 75% threshold</a:t>
            </a:r>
            <a:endParaRPr lang="en-US" sz="1250" dirty="0"/>
          </a:p>
        </p:txBody>
      </p:sp>
      <p:sp>
        <p:nvSpPr>
          <p:cNvPr id="11" name="Shape 7"/>
          <p:cNvSpPr/>
          <p:nvPr/>
        </p:nvSpPr>
        <p:spPr>
          <a:xfrm>
            <a:off x="457200" y="4023360"/>
            <a:ext cx="1920240" cy="548640"/>
          </a:xfrm>
          <a:prstGeom prst="rect">
            <a:avLst/>
          </a:prstGeom>
          <a:solidFill>
            <a:srgbClr val="F2F2F2"/>
          </a:solidFill>
          <a:ln w="9525">
            <a:solidFill>
              <a:srgbClr val="BFBFBF"/>
            </a:solidFill>
            <a:prstDash val="solid"/>
          </a:ln>
        </p:spPr>
      </p:sp>
      <p:sp>
        <p:nvSpPr>
          <p:cNvPr id="12" name="Shape 8"/>
          <p:cNvSpPr/>
          <p:nvPr/>
        </p:nvSpPr>
        <p:spPr>
          <a:xfrm>
            <a:off x="566928" y="4114800"/>
            <a:ext cx="365760" cy="365760"/>
          </a:xfrm>
          <a:prstGeom prst="ellipse">
            <a:avLst/>
          </a:prstGeom>
          <a:solidFill>
            <a:srgbClr val="111111"/>
          </a:solidFill>
          <a:ln w="12700">
            <a:solidFill>
              <a:srgbClr val="111111"/>
            </a:solidFill>
            <a:prstDash val="solid"/>
          </a:ln>
        </p:spPr>
      </p:sp>
      <p:pic>
        <p:nvPicPr>
          <p:cNvPr id="13" name="Image 0" descr="preencoded.png">    </p:cNvPr>
          <p:cNvPicPr>
            <a:picLocks noChangeAspect="1"/>
          </p:cNvPicPr>
          <p:nvPr/>
        </p:nvPicPr>
        <p:blipFill>
          <a:blip r:embed="rId1"/>
          <a:stretch>
            <a:fillRect/>
          </a:stretch>
        </p:blipFill>
        <p:spPr>
          <a:xfrm>
            <a:off x="658368" y="4206240"/>
            <a:ext cx="182880" cy="182880"/>
          </a:xfrm>
          <a:prstGeom prst="rect">
            <a:avLst/>
          </a:prstGeom>
        </p:spPr>
      </p:pic>
      <p:sp>
        <p:nvSpPr>
          <p:cNvPr id="14" name="Text 9"/>
          <p:cNvSpPr txBox="1"/>
          <p:nvPr/>
        </p:nvSpPr>
        <p:spPr>
          <a:xfrm>
            <a:off x="1024128" y="4023360"/>
            <a:ext cx="1280160" cy="548640"/>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Multi-node observation</a:t>
            </a:r>
            <a:endParaRPr lang="en-US" sz="1150" dirty="0"/>
          </a:p>
        </p:txBody>
      </p:sp>
      <p:sp>
        <p:nvSpPr>
          <p:cNvPr id="15" name="Shape 10"/>
          <p:cNvSpPr/>
          <p:nvPr/>
        </p:nvSpPr>
        <p:spPr>
          <a:xfrm>
            <a:off x="2560320" y="4023360"/>
            <a:ext cx="1920240" cy="548640"/>
          </a:xfrm>
          <a:prstGeom prst="rect">
            <a:avLst/>
          </a:prstGeom>
          <a:solidFill>
            <a:srgbClr val="F2F2F2"/>
          </a:solidFill>
          <a:ln w="9525">
            <a:solidFill>
              <a:srgbClr val="BFBFBF"/>
            </a:solidFill>
            <a:prstDash val="solid"/>
          </a:ln>
        </p:spPr>
      </p:sp>
      <p:sp>
        <p:nvSpPr>
          <p:cNvPr id="16" name="Shape 11"/>
          <p:cNvSpPr/>
          <p:nvPr/>
        </p:nvSpPr>
        <p:spPr>
          <a:xfrm>
            <a:off x="2670048" y="4114800"/>
            <a:ext cx="365760" cy="365760"/>
          </a:xfrm>
          <a:prstGeom prst="ellipse">
            <a:avLst/>
          </a:prstGeom>
          <a:solidFill>
            <a:srgbClr val="111111"/>
          </a:solidFill>
          <a:ln w="12700">
            <a:solidFill>
              <a:srgbClr val="111111"/>
            </a:solidFill>
            <a:prstDash val="solid"/>
          </a:ln>
        </p:spPr>
      </p:sp>
      <p:pic>
        <p:nvPicPr>
          <p:cNvPr id="17" name="Image 1" descr="preencoded.png">    </p:cNvPr>
          <p:cNvPicPr>
            <a:picLocks noChangeAspect="1"/>
          </p:cNvPicPr>
          <p:nvPr/>
        </p:nvPicPr>
        <p:blipFill>
          <a:blip r:embed="rId2"/>
          <a:stretch>
            <a:fillRect/>
          </a:stretch>
        </p:blipFill>
        <p:spPr>
          <a:xfrm>
            <a:off x="2761488" y="4206240"/>
            <a:ext cx="182880" cy="182880"/>
          </a:xfrm>
          <a:prstGeom prst="rect">
            <a:avLst/>
          </a:prstGeom>
        </p:spPr>
      </p:pic>
      <p:sp>
        <p:nvSpPr>
          <p:cNvPr id="18" name="Text 12"/>
          <p:cNvSpPr txBox="1"/>
          <p:nvPr/>
        </p:nvSpPr>
        <p:spPr>
          <a:xfrm>
            <a:off x="3127248" y="4023360"/>
            <a:ext cx="1280160" cy="548640"/>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Continuous monitoring</a:t>
            </a:r>
            <a:endParaRPr lang="en-US" sz="1150" dirty="0"/>
          </a:p>
        </p:txBody>
      </p:sp>
      <p:sp>
        <p:nvSpPr>
          <p:cNvPr id="19" name="Shape 13"/>
          <p:cNvSpPr/>
          <p:nvPr/>
        </p:nvSpPr>
        <p:spPr>
          <a:xfrm>
            <a:off x="4663440" y="4023360"/>
            <a:ext cx="1920240" cy="548640"/>
          </a:xfrm>
          <a:prstGeom prst="rect">
            <a:avLst/>
          </a:prstGeom>
          <a:solidFill>
            <a:srgbClr val="F2F2F2"/>
          </a:solidFill>
          <a:ln w="9525">
            <a:solidFill>
              <a:srgbClr val="BFBFBF"/>
            </a:solidFill>
            <a:prstDash val="solid"/>
          </a:ln>
        </p:spPr>
      </p:sp>
      <p:sp>
        <p:nvSpPr>
          <p:cNvPr id="20" name="Shape 14"/>
          <p:cNvSpPr/>
          <p:nvPr/>
        </p:nvSpPr>
        <p:spPr>
          <a:xfrm>
            <a:off x="4773168" y="4114800"/>
            <a:ext cx="365760" cy="365760"/>
          </a:xfrm>
          <a:prstGeom prst="ellipse">
            <a:avLst/>
          </a:prstGeom>
          <a:solidFill>
            <a:srgbClr val="111111"/>
          </a:solidFill>
          <a:ln w="12700">
            <a:solidFill>
              <a:srgbClr val="111111"/>
            </a:solidFill>
            <a:prstDash val="solid"/>
          </a:ln>
        </p:spPr>
      </p:sp>
      <p:pic>
        <p:nvPicPr>
          <p:cNvPr id="21" name="Image 2" descr="preencoded.png">    </p:cNvPr>
          <p:cNvPicPr>
            <a:picLocks noChangeAspect="1"/>
          </p:cNvPicPr>
          <p:nvPr/>
        </p:nvPicPr>
        <p:blipFill>
          <a:blip r:embed="rId3"/>
          <a:stretch>
            <a:fillRect/>
          </a:stretch>
        </p:blipFill>
        <p:spPr>
          <a:xfrm>
            <a:off x="4864608" y="4206240"/>
            <a:ext cx="182880" cy="182880"/>
          </a:xfrm>
          <a:prstGeom prst="rect">
            <a:avLst/>
          </a:prstGeom>
        </p:spPr>
      </p:pic>
      <p:sp>
        <p:nvSpPr>
          <p:cNvPr id="22" name="Text 15"/>
          <p:cNvSpPr txBox="1"/>
          <p:nvPr/>
        </p:nvSpPr>
        <p:spPr>
          <a:xfrm>
            <a:off x="5230368" y="4023360"/>
            <a:ext cx="1280160" cy="548640"/>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Live status visualization</a:t>
            </a:r>
            <a:endParaRPr lang="en-US" sz="1150" dirty="0"/>
          </a:p>
        </p:txBody>
      </p:sp>
      <p:sp>
        <p:nvSpPr>
          <p:cNvPr id="23" name="Shape 16"/>
          <p:cNvSpPr/>
          <p:nvPr/>
        </p:nvSpPr>
        <p:spPr>
          <a:xfrm>
            <a:off x="6766560" y="4023360"/>
            <a:ext cx="1920240" cy="548640"/>
          </a:xfrm>
          <a:prstGeom prst="rect">
            <a:avLst/>
          </a:prstGeom>
          <a:solidFill>
            <a:srgbClr val="F2F2F2"/>
          </a:solidFill>
          <a:ln w="9525">
            <a:solidFill>
              <a:srgbClr val="BFBFBF"/>
            </a:solidFill>
            <a:prstDash val="solid"/>
          </a:ln>
        </p:spPr>
      </p:sp>
      <p:sp>
        <p:nvSpPr>
          <p:cNvPr id="24" name="Shape 17"/>
          <p:cNvSpPr/>
          <p:nvPr/>
        </p:nvSpPr>
        <p:spPr>
          <a:xfrm>
            <a:off x="6876288" y="4114800"/>
            <a:ext cx="365760" cy="365760"/>
          </a:xfrm>
          <a:prstGeom prst="ellipse">
            <a:avLst/>
          </a:prstGeom>
          <a:solidFill>
            <a:srgbClr val="111111"/>
          </a:solidFill>
          <a:ln w="12700">
            <a:solidFill>
              <a:srgbClr val="111111"/>
            </a:solidFill>
            <a:prstDash val="solid"/>
          </a:ln>
        </p:spPr>
      </p:sp>
      <p:pic>
        <p:nvPicPr>
          <p:cNvPr id="25" name="Image 3" descr="preencoded.png">    </p:cNvPr>
          <p:cNvPicPr>
            <a:picLocks noChangeAspect="1"/>
          </p:cNvPicPr>
          <p:nvPr/>
        </p:nvPicPr>
        <p:blipFill>
          <a:blip r:embed="rId4"/>
          <a:stretch>
            <a:fillRect/>
          </a:stretch>
        </p:blipFill>
        <p:spPr>
          <a:xfrm>
            <a:off x="6967728" y="4206240"/>
            <a:ext cx="182880" cy="182880"/>
          </a:xfrm>
          <a:prstGeom prst="rect">
            <a:avLst/>
          </a:prstGeom>
        </p:spPr>
      </p:pic>
      <p:sp>
        <p:nvSpPr>
          <p:cNvPr id="26" name="Text 18"/>
          <p:cNvSpPr txBox="1"/>
          <p:nvPr/>
        </p:nvSpPr>
        <p:spPr>
          <a:xfrm>
            <a:off x="7333488" y="4023360"/>
            <a:ext cx="1280160" cy="548640"/>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Persistent attendance records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11111"/>
                </a:solidFill>
                <a:latin typeface="Cambria" pitchFamily="34" charset="0"/>
                <a:ea typeface="Cambria" pitchFamily="34" charset="-122"/>
                <a:cs typeface="Cambria" pitchFamily="34" charset="-120"/>
              </a:rPr>
              <a:t>Conclusion &amp; Future Scope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Classroom Presence Verification  |  Final Review</a:t>
            </a:r>
            <a:endParaRPr lang="en-US" sz="9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 / 8</a:t>
            </a:r>
            <a:endParaRPr lang="en-US" sz="900" dirty="0"/>
          </a:p>
        </p:txBody>
      </p:sp>
      <p:sp>
        <p:nvSpPr>
          <p:cNvPr id="6" name="Shape 3"/>
          <p:cNvSpPr/>
          <p:nvPr/>
        </p:nvSpPr>
        <p:spPr>
          <a:xfrm>
            <a:off x="457200" y="1188720"/>
            <a:ext cx="4206240" cy="3291840"/>
          </a:xfrm>
          <a:prstGeom prst="rect">
            <a:avLst/>
          </a:prstGeom>
          <a:solidFill>
            <a:srgbClr val="111111"/>
          </a:solidFill>
          <a:ln w="9525">
            <a:solidFill>
              <a:srgbClr val="111111"/>
            </a:solidFill>
            <a:prstDash val="solid"/>
          </a:ln>
        </p:spPr>
      </p:sp>
      <p:sp>
        <p:nvSpPr>
          <p:cNvPr id="7" name="Shape 4"/>
          <p:cNvSpPr/>
          <p:nvPr/>
        </p:nvSpPr>
        <p:spPr>
          <a:xfrm>
            <a:off x="685800" y="1371600"/>
            <a:ext cx="457200" cy="45720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800100" y="1485900"/>
            <a:ext cx="228600" cy="228600"/>
          </a:xfrm>
          <a:prstGeom prst="rect">
            <a:avLst/>
          </a:prstGeom>
        </p:spPr>
      </p:pic>
      <p:sp>
        <p:nvSpPr>
          <p:cNvPr id="9" name="Text 5"/>
          <p:cNvSpPr txBox="1"/>
          <p:nvPr/>
        </p:nvSpPr>
        <p:spPr>
          <a:xfrm>
            <a:off x="1325880" y="1371600"/>
            <a:ext cx="31089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Conclusion</a:t>
            </a:r>
            <a:endParaRPr lang="en-US" sz="2000" dirty="0"/>
          </a:p>
        </p:txBody>
      </p:sp>
      <p:sp>
        <p:nvSpPr>
          <p:cNvPr id="10" name="Text 6"/>
          <p:cNvSpPr txBox="1"/>
          <p:nvPr/>
        </p:nvSpPr>
        <p:spPr>
          <a:xfrm>
            <a:off x="685800" y="2057400"/>
            <a:ext cx="3749040" cy="2331720"/>
          </a:xfrm>
          <a:prstGeom prst="rect">
            <a:avLst/>
          </a:prstGeom>
          <a:noFill/>
          <a:ln/>
        </p:spPr>
        <p:txBody>
          <a:bodyPr wrap="square" lIns="0" tIns="0" rIns="0" bIns="0" rtlCol="0" anchor="t"/>
          <a:lstStyle/>
          <a:p>
            <a:pPr marL="177800" indent="-177800">
              <a:spcAft>
                <a:spcPts val="900"/>
              </a:spcAft>
              <a:buSzPct val="100000"/>
              <a:buChar char="•"/>
            </a:pPr>
            <a:r>
              <a:rPr lang="en-US" sz="1450" dirty="0">
                <a:solidFill>
                  <a:srgbClr val="FFFFFF"/>
                </a:solidFill>
                <a:latin typeface="Calibri" pitchFamily="34" charset="0"/>
                <a:ea typeface="Calibri" pitchFamily="34" charset="-122"/>
                <a:cs typeface="Calibri" pitchFamily="34" charset="-120"/>
              </a:rPr>
              <a:t>Successfully implemented a working multi-node BLE presence verification prototype</a:t>
            </a:r>
            <a:endParaRPr lang="en-US" sz="1450" dirty="0"/>
          </a:p>
          <a:p>
            <a:pPr marL="177800" indent="-177800">
              <a:spcAft>
                <a:spcPts val="900"/>
              </a:spcAft>
              <a:buSzPct val="100000"/>
              <a:buChar char="•"/>
            </a:pPr>
            <a:r>
              <a:rPr lang="en-US" sz="1450" dirty="0">
                <a:solidFill>
                  <a:srgbClr val="FFFFFF"/>
                </a:solidFill>
                <a:latin typeface="Calibri" pitchFamily="34" charset="0"/>
                <a:ea typeface="Calibri" pitchFamily="34" charset="-122"/>
                <a:cs typeface="Calibri" pitchFamily="34" charset="-120"/>
              </a:rPr>
              <a:t>Combines distributed ESP32 scanning with centralized Flask verification</a:t>
            </a:r>
            <a:endParaRPr lang="en-US" sz="1450" dirty="0"/>
          </a:p>
          <a:p>
            <a:pPr marL="177800" indent="-177800">
              <a:spcAft>
                <a:spcPts val="900"/>
              </a:spcAft>
              <a:buSzPct val="100000"/>
              <a:buChar char="•"/>
            </a:pPr>
            <a:r>
              <a:rPr lang="en-US" sz="1450" dirty="0">
                <a:solidFill>
                  <a:srgbClr val="FFFFFF"/>
                </a:solidFill>
                <a:latin typeface="Calibri" pitchFamily="34" charset="0"/>
                <a:ea typeface="Calibri" pitchFamily="34" charset="-122"/>
                <a:cs typeface="Calibri" pitchFamily="34" charset="-120"/>
              </a:rPr>
              <a:t>Supports continuous monitoring and leave detection</a:t>
            </a:r>
            <a:endParaRPr lang="en-US" sz="1450" dirty="0"/>
          </a:p>
          <a:p>
            <a:pPr marL="177800" indent="-177800">
              <a:spcAft>
                <a:spcPts val="900"/>
              </a:spcAft>
              <a:buSzPct val="100000"/>
              <a:buChar char="•"/>
            </a:pPr>
            <a:r>
              <a:rPr lang="en-US" sz="1450" dirty="0">
                <a:solidFill>
                  <a:srgbClr val="FFFFFF"/>
                </a:solidFill>
                <a:latin typeface="Calibri" pitchFamily="34" charset="0"/>
                <a:ea typeface="Calibri" pitchFamily="34" charset="-122"/>
                <a:cs typeface="Calibri" pitchFamily="34" charset="-120"/>
              </a:rPr>
              <a:t>Low-cost embedded implementation</a:t>
            </a:r>
            <a:endParaRPr lang="en-US" sz="1450" dirty="0"/>
          </a:p>
        </p:txBody>
      </p:sp>
      <p:sp>
        <p:nvSpPr>
          <p:cNvPr id="11" name="Shape 7"/>
          <p:cNvSpPr/>
          <p:nvPr/>
        </p:nvSpPr>
        <p:spPr>
          <a:xfrm>
            <a:off x="4937760" y="1188720"/>
            <a:ext cx="3749040" cy="3291840"/>
          </a:xfrm>
          <a:prstGeom prst="rect">
            <a:avLst/>
          </a:prstGeom>
          <a:solidFill>
            <a:srgbClr val="F2F2F2"/>
          </a:solidFill>
          <a:ln w="9525">
            <a:solidFill>
              <a:srgbClr val="BFBFBF"/>
            </a:solidFill>
            <a:prstDash val="solid"/>
          </a:ln>
        </p:spPr>
      </p:sp>
      <p:sp>
        <p:nvSpPr>
          <p:cNvPr id="12" name="Shape 8"/>
          <p:cNvSpPr/>
          <p:nvPr/>
        </p:nvSpPr>
        <p:spPr>
          <a:xfrm>
            <a:off x="5166360" y="1371600"/>
            <a:ext cx="457200" cy="457200"/>
          </a:xfrm>
          <a:prstGeom prst="ellipse">
            <a:avLst/>
          </a:prstGeom>
          <a:solidFill>
            <a:srgbClr val="111111"/>
          </a:solidFill>
          <a:ln w="12700">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5280660" y="1485900"/>
            <a:ext cx="228600" cy="228600"/>
          </a:xfrm>
          <a:prstGeom prst="rect">
            <a:avLst/>
          </a:prstGeom>
        </p:spPr>
      </p:pic>
      <p:sp>
        <p:nvSpPr>
          <p:cNvPr id="14" name="Text 9"/>
          <p:cNvSpPr txBox="1"/>
          <p:nvPr/>
        </p:nvSpPr>
        <p:spPr>
          <a:xfrm>
            <a:off x="5806440" y="1371600"/>
            <a:ext cx="2651760" cy="457200"/>
          </a:xfrm>
          <a:prstGeom prst="rect">
            <a:avLst/>
          </a:prstGeom>
          <a:noFill/>
          <a:ln/>
        </p:spPr>
        <p:txBody>
          <a:bodyPr wrap="square" lIns="0" tIns="0" rIns="0" bIns="0" rtlCol="0" anchor="ctr"/>
          <a:lstStyle/>
          <a:p>
            <a:pPr indent="0" marL="0">
              <a:buNone/>
            </a:pPr>
            <a:r>
              <a:rPr lang="en-US" sz="2000" b="1" dirty="0">
                <a:solidFill>
                  <a:srgbClr val="111111"/>
                </a:solidFill>
                <a:latin typeface="Cambria" pitchFamily="34" charset="0"/>
                <a:ea typeface="Cambria" pitchFamily="34" charset="-122"/>
                <a:cs typeface="Cambria" pitchFamily="34" charset="-120"/>
              </a:rPr>
              <a:t>Future Scope</a:t>
            </a:r>
            <a:endParaRPr lang="en-US" sz="2000" dirty="0"/>
          </a:p>
        </p:txBody>
      </p:sp>
      <p:sp>
        <p:nvSpPr>
          <p:cNvPr id="15" name="Text 10"/>
          <p:cNvSpPr txBox="1"/>
          <p:nvPr/>
        </p:nvSpPr>
        <p:spPr>
          <a:xfrm>
            <a:off x="5166360" y="2057400"/>
            <a:ext cx="3291840" cy="2331720"/>
          </a:xfrm>
          <a:prstGeom prst="rect">
            <a:avLst/>
          </a:prstGeom>
          <a:noFill/>
          <a:ln/>
        </p:spPr>
        <p:txBody>
          <a:bodyPr wrap="square" lIns="0" tIns="0" rIns="0" bIns="0" rtlCol="0" anchor="t"/>
          <a:lstStyle/>
          <a:p>
            <a:pPr marL="177800" indent="-177800">
              <a:spcAft>
                <a:spcPts val="900"/>
              </a:spcAft>
              <a:buSzPct val="100000"/>
              <a:buChar char="•"/>
            </a:pPr>
            <a:r>
              <a:rPr lang="en-US" sz="1450" dirty="0">
                <a:solidFill>
                  <a:srgbClr val="111111"/>
                </a:solidFill>
                <a:latin typeface="Calibri" pitchFamily="34" charset="0"/>
                <a:ea typeface="Calibri" pitchFamily="34" charset="-122"/>
                <a:cs typeface="Calibri" pitchFamily="34" charset="-120"/>
              </a:rPr>
              <a:t>More ESP32 nodes for larger classrooms</a:t>
            </a:r>
            <a:endParaRPr lang="en-US" sz="1450" dirty="0"/>
          </a:p>
          <a:p>
            <a:pPr marL="177800" indent="-177800">
              <a:spcAft>
                <a:spcPts val="900"/>
              </a:spcAft>
              <a:buSzPct val="100000"/>
              <a:buChar char="•"/>
            </a:pPr>
            <a:r>
              <a:rPr lang="en-US" sz="1450" dirty="0">
                <a:solidFill>
                  <a:srgbClr val="111111"/>
                </a:solidFill>
                <a:latin typeface="Calibri" pitchFamily="34" charset="0"/>
                <a:ea typeface="Calibri" pitchFamily="34" charset="-122"/>
                <a:cs typeface="Calibri" pitchFamily="34" charset="-120"/>
              </a:rPr>
              <a:t>Better BLE device registration/management</a:t>
            </a:r>
            <a:endParaRPr lang="en-US" sz="1450" dirty="0"/>
          </a:p>
          <a:p>
            <a:pPr marL="177800" indent="-177800">
              <a:spcAft>
                <a:spcPts val="900"/>
              </a:spcAft>
              <a:buSzPct val="100000"/>
              <a:buChar char="•"/>
            </a:pPr>
            <a:r>
              <a:rPr lang="en-US" sz="1450" dirty="0">
                <a:solidFill>
                  <a:srgbClr val="111111"/>
                </a:solidFill>
                <a:latin typeface="Calibri" pitchFamily="34" charset="0"/>
                <a:ea typeface="Calibri" pitchFamily="34" charset="-122"/>
                <a:cs typeface="Calibri" pitchFamily="34" charset="-120"/>
              </a:rPr>
              <a:t>Multi-classroom deployment</a:t>
            </a:r>
            <a:endParaRPr lang="en-US" sz="1450" dirty="0"/>
          </a:p>
          <a:p>
            <a:pPr marL="177800" indent="-177800">
              <a:spcAft>
                <a:spcPts val="900"/>
              </a:spcAft>
              <a:buSzPct val="100000"/>
              <a:buChar char="•"/>
            </a:pPr>
            <a:r>
              <a:rPr lang="en-US" sz="1450" dirty="0">
                <a:solidFill>
                  <a:srgbClr val="111111"/>
                </a:solidFill>
                <a:latin typeface="Calibri" pitchFamily="34" charset="0"/>
                <a:ea typeface="Calibri" pitchFamily="34" charset="-122"/>
                <a:cs typeface="Calibri" pitchFamily="34" charset="-120"/>
              </a:rPr>
              <a:t>Integration with institutional attendance systems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Multi-Node BLE-Based Classroom Presence Verification System Using ESP32 - Final Review</dc:title>
  <dc:subject>PptxGenJS Presentation</dc:subject>
  <dc:creator>Kavin J S; Lohith Krishnan</dc:creator>
  <cp:lastModifiedBy>Kavin J S; Lohith Krishnan</cp:lastModifiedBy>
  <cp:revision>1</cp:revision>
  <dcterms:created xsi:type="dcterms:W3CDTF">2026-09-29T10:57:46Z</dcterms:created>
  <dcterms:modified xsi:type="dcterms:W3CDTF">2026-09-29T10:57:46Z</dcterms:modified>
</cp:coreProperties>
</file>